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5"/>
    <p:sldMasterId id="214748367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Play"/>
      <p:regular r:id="rId26"/>
      <p:bold r:id="rId27"/>
    </p:embeddedFont>
    <p:embeddedFont>
      <p:font typeface="Gill Sans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DFBAEF-82E6-471E-BA7E-3DF5E59CE3DA}">
  <a:tblStyle styleId="{49DFBAEF-82E6-471E-BA7E-3DF5E59CE3DA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0F4"/>
          </a:solidFill>
        </a:fill>
      </a:tcStyle>
    </a:wholeTbl>
    <a:band1H>
      <a:tcTxStyle/>
      <a:tcStyle>
        <a:fill>
          <a:solidFill>
            <a:srgbClr val="E0E0E9"/>
          </a:solidFill>
        </a:fill>
      </a:tcStyle>
    </a:band1H>
    <a:band2H>
      <a:tcTxStyle/>
    </a:band2H>
    <a:band1V>
      <a:tcTxStyle/>
      <a:tcStyle>
        <a:fill>
          <a:solidFill>
            <a:srgbClr val="E0E0E9"/>
          </a:solidFill>
        </a:fill>
      </a:tcStyle>
    </a:band1V>
    <a:band2V>
      <a:tcTxStyle/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5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lay-regular.fntdata"/><Relationship Id="rId25" Type="http://schemas.openxmlformats.org/officeDocument/2006/relationships/slide" Target="slides/slide18.xml"/><Relationship Id="rId28" Type="http://schemas.openxmlformats.org/officeDocument/2006/relationships/font" Target="fonts/GillSans-regular.fntdata"/><Relationship Id="rId27" Type="http://schemas.openxmlformats.org/officeDocument/2006/relationships/font" Target="fonts/Play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GillSans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678ad2581_2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9678ad2581_2_1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9678ad2581_2_1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678ad2581_2_1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9678ad2581_2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678ad2581_2_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9678ad2581_2_2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9678ad2581_2_2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678ad2581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9678ad2581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9678ad2581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9678ad2581_2_2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9678ad2581_2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678ad2581_2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9678ad2581_2_2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9678ad2581_2_2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678ad2581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9678ad2581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678ad2581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9678ad2581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678ad2581_0_3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9678ad2581_0_3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9678ad2581_0_3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9678ad2581_0_3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9678ad2581_0_3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9678ad2581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9678ad2581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9678ad2581_0_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9678ad2581_0_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678ad2581_0_5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9678ad2581_0_5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9678ad2581_0_3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9678ad2581_0_3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9678ad2581_2_3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9678ad2581_2_3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9678ad2581_0_7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9678ad2581_0_7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9678ad2581_2_3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9678ad2581_2_3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9678ad2581_2_3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9678ad2581_2_3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9678ad2581_2_3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9678ad2581_2_3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">
  <p:cSld name="1_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5999560" y="788663"/>
            <a:ext cx="2674143" cy="17886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/>
          <p:nvPr>
            <p:ph idx="2" type="pic"/>
          </p:nvPr>
        </p:nvSpPr>
        <p:spPr>
          <a:xfrm>
            <a:off x="0" y="0"/>
            <a:ext cx="558927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59" name="Google Shape;59;p14"/>
          <p:cNvSpPr/>
          <p:nvPr/>
        </p:nvSpPr>
        <p:spPr>
          <a:xfrm>
            <a:off x="5999560" y="333954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60" name="Google Shape;60;p14"/>
          <p:cNvGrpSpPr/>
          <p:nvPr/>
        </p:nvGrpSpPr>
        <p:grpSpPr>
          <a:xfrm rot="5400000">
            <a:off x="8126267" y="4125139"/>
            <a:ext cx="621269" cy="621269"/>
            <a:chOff x="10462536" y="1408249"/>
            <a:chExt cx="828358" cy="828358"/>
          </a:xfrm>
        </p:grpSpPr>
        <p:sp>
          <p:nvSpPr>
            <p:cNvPr id="61" name="Google Shape;61;p14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5999560" y="2676525"/>
            <a:ext cx="2674143" cy="12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Agenda">
  <p:cSld name="2_Agenda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413148" y="411956"/>
            <a:ext cx="2674143" cy="1498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13147" y="2007980"/>
            <a:ext cx="2674144" cy="2561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3906696" y="1197578"/>
            <a:ext cx="2586419" cy="25864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68" name="Google Shape;68;p15"/>
          <p:cNvSpPr/>
          <p:nvPr>
            <p:ph idx="3" type="pic"/>
          </p:nvPr>
        </p:nvSpPr>
        <p:spPr>
          <a:xfrm>
            <a:off x="6688931" y="447294"/>
            <a:ext cx="1697832" cy="16978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69" name="Google Shape;69;p15"/>
          <p:cNvSpPr/>
          <p:nvPr>
            <p:ph idx="4" type="pic"/>
          </p:nvPr>
        </p:nvSpPr>
        <p:spPr>
          <a:xfrm>
            <a:off x="6818709" y="2493550"/>
            <a:ext cx="2202657" cy="220265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70" name="Google Shape;70;p15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4911566" y="637625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74" name="Google Shape;74;p15"/>
          <p:cNvGrpSpPr/>
          <p:nvPr/>
        </p:nvGrpSpPr>
        <p:grpSpPr>
          <a:xfrm>
            <a:off x="4189440" y="4194424"/>
            <a:ext cx="621269" cy="621269"/>
            <a:chOff x="3393179" y="4841987"/>
            <a:chExt cx="828358" cy="828358"/>
          </a:xfrm>
        </p:grpSpPr>
        <p:sp>
          <p:nvSpPr>
            <p:cNvPr id="75" name="Google Shape;75;p15"/>
            <p:cNvSpPr/>
            <p:nvPr/>
          </p:nvSpPr>
          <p:spPr>
            <a:xfrm rot="8100000">
              <a:off x="3537358" y="4940429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 rot="-81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0">
                  <a:srgbClr val="453E75">
                    <a:alpha val="32941"/>
                  </a:srgbClr>
                </a:gs>
                <a:gs pos="100000">
                  <a:srgbClr val="59EFC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Introduction">
  <p:cSld name="3_Introduc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413147" y="3380400"/>
            <a:ext cx="3375421" cy="117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/>
          <p:nvPr>
            <p:ph idx="2" type="pic"/>
          </p:nvPr>
        </p:nvSpPr>
        <p:spPr>
          <a:xfrm>
            <a:off x="0" y="0"/>
            <a:ext cx="2290572" cy="28323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80" name="Google Shape;80;p16"/>
          <p:cNvSpPr/>
          <p:nvPr>
            <p:ph idx="3" type="pic"/>
          </p:nvPr>
        </p:nvSpPr>
        <p:spPr>
          <a:xfrm>
            <a:off x="2290572" y="0"/>
            <a:ext cx="2290572" cy="28323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81" name="Google Shape;81;p16"/>
          <p:cNvSpPr/>
          <p:nvPr>
            <p:ph idx="4" type="pic"/>
          </p:nvPr>
        </p:nvSpPr>
        <p:spPr>
          <a:xfrm>
            <a:off x="4562856" y="0"/>
            <a:ext cx="2290572" cy="28323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82" name="Google Shape;82;p16"/>
          <p:cNvSpPr/>
          <p:nvPr>
            <p:ph idx="5" type="pic"/>
          </p:nvPr>
        </p:nvSpPr>
        <p:spPr>
          <a:xfrm>
            <a:off x="6853428" y="0"/>
            <a:ext cx="2290572" cy="28323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83" name="Google Shape;83;p16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946808" y="3381375"/>
            <a:ext cx="4666059" cy="1172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/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ction break">
  <p:cSld name="4_Section break"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89" name="Google Shape;89;p17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0" y="4330297"/>
            <a:ext cx="9144000" cy="813203"/>
          </a:xfrm>
          <a:prstGeom prst="rect">
            <a:avLst/>
          </a:prstGeom>
          <a:gradFill>
            <a:gsLst>
              <a:gs pos="0">
                <a:srgbClr val="1B192E">
                  <a:alpha val="0"/>
                </a:srgbClr>
              </a:gs>
              <a:gs pos="28000">
                <a:srgbClr val="1B192E">
                  <a:alpha val="0"/>
                </a:srgbClr>
              </a:gs>
              <a:gs pos="90000">
                <a:srgbClr val="1B192E">
                  <a:alpha val="60000"/>
                </a:srgbClr>
              </a:gs>
              <a:gs pos="100000">
                <a:srgbClr val="1B192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3" name="Google Shape;93;p17"/>
          <p:cNvSpPr/>
          <p:nvPr/>
        </p:nvSpPr>
        <p:spPr>
          <a:xfrm rot="10800000">
            <a:off x="0" y="-2"/>
            <a:ext cx="6750000" cy="5143499"/>
          </a:xfrm>
          <a:prstGeom prst="rect">
            <a:avLst/>
          </a:prstGeom>
          <a:gradFill>
            <a:gsLst>
              <a:gs pos="0">
                <a:srgbClr val="1B192E">
                  <a:alpha val="0"/>
                </a:srgbClr>
              </a:gs>
              <a:gs pos="50000">
                <a:srgbClr val="1B192E">
                  <a:alpha val="60000"/>
                </a:srgbClr>
              </a:gs>
              <a:gs pos="100000">
                <a:srgbClr val="1B192E">
                  <a:alpha val="6000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4" name="Google Shape;94;p17"/>
          <p:cNvSpPr txBox="1"/>
          <p:nvPr>
            <p:ph type="ctrTitle"/>
          </p:nvPr>
        </p:nvSpPr>
        <p:spPr>
          <a:xfrm>
            <a:off x="413147" y="411956"/>
            <a:ext cx="4077890" cy="22396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" type="subTitle"/>
          </p:nvPr>
        </p:nvSpPr>
        <p:spPr>
          <a:xfrm>
            <a:off x="413147" y="2862543"/>
            <a:ext cx="4077890" cy="169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lvl="2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lvl="3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lvl="4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ontent 3 column">
  <p:cSld name="11_Content 3 colum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8"/>
          <p:cNvGrpSpPr/>
          <p:nvPr/>
        </p:nvGrpSpPr>
        <p:grpSpPr>
          <a:xfrm>
            <a:off x="75354" y="3777296"/>
            <a:ext cx="1562914" cy="1562914"/>
            <a:chOff x="4842143" y="3556857"/>
            <a:chExt cx="2083885" cy="2083885"/>
          </a:xfrm>
        </p:grpSpPr>
        <p:sp>
          <p:nvSpPr>
            <p:cNvPr id="98" name="Google Shape;98;p18"/>
            <p:cNvSpPr/>
            <p:nvPr/>
          </p:nvSpPr>
          <p:spPr>
            <a:xfrm flipH="1" rot="8100000">
              <a:off x="5005634" y="4191206"/>
              <a:ext cx="1853969" cy="926985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9" name="Google Shape;99;p18"/>
            <p:cNvSpPr/>
            <p:nvPr/>
          </p:nvSpPr>
          <p:spPr>
            <a:xfrm flipH="1" rot="8100000">
              <a:off x="4957101" y="4052255"/>
              <a:ext cx="1853969" cy="1093090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400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0" name="Google Shape;100;p18"/>
            <p:cNvSpPr/>
            <p:nvPr/>
          </p:nvSpPr>
          <p:spPr>
            <a:xfrm flipH="1" rot="2700000">
              <a:off x="6040374" y="3601683"/>
              <a:ext cx="107098" cy="466589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1" name="Google Shape;101;p18"/>
            <p:cNvSpPr/>
            <p:nvPr/>
          </p:nvSpPr>
          <p:spPr>
            <a:xfrm flipH="1" rot="2700000">
              <a:off x="5059348" y="4582709"/>
              <a:ext cx="107098" cy="466589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02" name="Google Shape;102;p18"/>
          <p:cNvSpPr/>
          <p:nvPr/>
        </p:nvSpPr>
        <p:spPr>
          <a:xfrm rot="2700000">
            <a:off x="8126208" y="128451"/>
            <a:ext cx="810000" cy="947210"/>
          </a:xfrm>
          <a:custGeom>
            <a:rect b="b" l="l" r="r" t="t"/>
            <a:pathLst>
              <a:path extrusionOk="0" h="1262947" w="1080000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0">
                <a:srgbClr val="2B274A"/>
              </a:gs>
              <a:gs pos="30000">
                <a:srgbClr val="2B274A"/>
              </a:gs>
              <a:gs pos="40000">
                <a:srgbClr val="453E75"/>
              </a:gs>
              <a:gs pos="60000">
                <a:srgbClr val="2B274A"/>
              </a:gs>
              <a:gs pos="100000">
                <a:schemeClr val="dk2"/>
              </a:gs>
            </a:gsLst>
            <a:lin ang="6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" name="Google Shape;103;p18"/>
          <p:cNvSpPr/>
          <p:nvPr/>
        </p:nvSpPr>
        <p:spPr>
          <a:xfrm rot="8100000">
            <a:off x="8137008" y="388756"/>
            <a:ext cx="405000" cy="810000"/>
          </a:xfrm>
          <a:prstGeom prst="ellipse">
            <a:avLst/>
          </a:prstGeom>
          <a:gradFill>
            <a:gsLst>
              <a:gs pos="0">
                <a:srgbClr val="221F3B"/>
              </a:gs>
              <a:gs pos="50000">
                <a:srgbClr val="221F3B"/>
              </a:gs>
              <a:gs pos="100000">
                <a:srgbClr val="2B274A"/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1350602" y="1854641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5" name="Google Shape;105;p18"/>
          <p:cNvSpPr txBox="1"/>
          <p:nvPr>
            <p:ph type="title"/>
          </p:nvPr>
        </p:nvSpPr>
        <p:spPr>
          <a:xfrm>
            <a:off x="413147" y="411956"/>
            <a:ext cx="8323163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413148" y="1298531"/>
            <a:ext cx="2672952" cy="4015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sz="1500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7" name="Google Shape;107;p18"/>
          <p:cNvSpPr txBox="1"/>
          <p:nvPr>
            <p:ph idx="2" type="body"/>
          </p:nvPr>
        </p:nvSpPr>
        <p:spPr>
          <a:xfrm>
            <a:off x="419607" y="1824228"/>
            <a:ext cx="2672952" cy="263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3" type="body"/>
          </p:nvPr>
        </p:nvSpPr>
        <p:spPr>
          <a:xfrm>
            <a:off x="3256180" y="1298531"/>
            <a:ext cx="2674620" cy="4015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sz="1500" cap="none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4" type="body"/>
          </p:nvPr>
        </p:nvSpPr>
        <p:spPr>
          <a:xfrm>
            <a:off x="3256180" y="1820528"/>
            <a:ext cx="2631566" cy="263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1pPr>
            <a:lvl2pPr indent="-31115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2pPr>
            <a:lvl3pPr indent="-31115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3pPr>
            <a:lvl4pPr indent="-31115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4pPr>
            <a:lvl5pPr indent="-31115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5" type="body"/>
          </p:nvPr>
        </p:nvSpPr>
        <p:spPr>
          <a:xfrm>
            <a:off x="6104744" y="1298531"/>
            <a:ext cx="2674620" cy="4015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sz="1500" cap="none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6" type="body"/>
          </p:nvPr>
        </p:nvSpPr>
        <p:spPr>
          <a:xfrm>
            <a:off x="6104744" y="1820528"/>
            <a:ext cx="2631566" cy="263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1pPr>
            <a:lvl2pPr indent="-31115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2pPr>
            <a:lvl3pPr indent="-31115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3pPr>
            <a:lvl4pPr indent="-31115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4pPr>
            <a:lvl5pPr indent="-31115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hart Table Timeline" type="obj">
  <p:cSld name="OBJEC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9"/>
          <p:cNvGrpSpPr/>
          <p:nvPr/>
        </p:nvGrpSpPr>
        <p:grpSpPr>
          <a:xfrm>
            <a:off x="272916" y="3991920"/>
            <a:ext cx="772729" cy="772729"/>
            <a:chOff x="10240859" y="1436639"/>
            <a:chExt cx="1030305" cy="1030305"/>
          </a:xfrm>
        </p:grpSpPr>
        <p:sp>
          <p:nvSpPr>
            <p:cNvPr id="117" name="Google Shape;117;p19"/>
            <p:cNvSpPr/>
            <p:nvPr/>
          </p:nvSpPr>
          <p:spPr>
            <a:xfrm rot="-8100000">
              <a:off x="10268976" y="1743588"/>
              <a:ext cx="926985" cy="463493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8" name="Google Shape;118;p19"/>
            <p:cNvSpPr/>
            <p:nvPr/>
          </p:nvSpPr>
          <p:spPr>
            <a:xfrm rot="-2700000">
              <a:off x="11115555" y="1939340"/>
              <a:ext cx="53549" cy="23329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9" name="Google Shape;119;p19"/>
            <p:cNvSpPr/>
            <p:nvPr/>
          </p:nvSpPr>
          <p:spPr>
            <a:xfrm rot="-2700000">
              <a:off x="10625042" y="1448827"/>
              <a:ext cx="53549" cy="23329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0" name="Google Shape;120;p19"/>
            <p:cNvSpPr/>
            <p:nvPr/>
          </p:nvSpPr>
          <p:spPr>
            <a:xfrm rot="-8100000">
              <a:off x="10292519" y="1686748"/>
              <a:ext cx="926985" cy="530086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200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21" name="Google Shape;121;p19"/>
          <p:cNvSpPr txBox="1"/>
          <p:nvPr>
            <p:ph type="title"/>
          </p:nvPr>
        </p:nvSpPr>
        <p:spPr>
          <a:xfrm>
            <a:off x="413146" y="411956"/>
            <a:ext cx="83187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413147" y="1584899"/>
            <a:ext cx="8317706" cy="2984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ontent 2 column (comparison slide)" type="twoTxTwoObj">
  <p:cSld name="TWO_OBJECTS_WITH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8318709" y="4420100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8588709" y="4370909"/>
            <a:ext cx="284287" cy="270000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20"/>
          <p:cNvSpPr txBox="1"/>
          <p:nvPr>
            <p:ph type="title"/>
          </p:nvPr>
        </p:nvSpPr>
        <p:spPr>
          <a:xfrm>
            <a:off x="413147" y="411956"/>
            <a:ext cx="8323163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413148" y="1298531"/>
            <a:ext cx="4077890" cy="4015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sz="1100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1" name="Google Shape;131;p20"/>
          <p:cNvSpPr txBox="1"/>
          <p:nvPr>
            <p:ph idx="2" type="body"/>
          </p:nvPr>
        </p:nvSpPr>
        <p:spPr>
          <a:xfrm>
            <a:off x="413147" y="1820528"/>
            <a:ext cx="4071836" cy="263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1pPr>
            <a:lvl2pPr indent="-3048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3" type="body"/>
          </p:nvPr>
        </p:nvSpPr>
        <p:spPr>
          <a:xfrm>
            <a:off x="4659018" y="1298531"/>
            <a:ext cx="4077294" cy="4015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sz="1100" cap="none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4" type="body"/>
          </p:nvPr>
        </p:nvSpPr>
        <p:spPr>
          <a:xfrm>
            <a:off x="4659017" y="1820528"/>
            <a:ext cx="4077293" cy="263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1pPr>
            <a:lvl2pPr indent="-3048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Summary">
  <p:cSld name="12_Summar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413147" y="3381375"/>
            <a:ext cx="3375421" cy="117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1"/>
          <p:cNvSpPr/>
          <p:nvPr>
            <p:ph idx="2" type="pic"/>
          </p:nvPr>
        </p:nvSpPr>
        <p:spPr>
          <a:xfrm>
            <a:off x="0" y="0"/>
            <a:ext cx="9144000" cy="28323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946808" y="3381375"/>
            <a:ext cx="4666059" cy="1172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919330" y="2889169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eam">
  <p:cSld name="8_Team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0" y="4330297"/>
            <a:ext cx="9144000" cy="813203"/>
          </a:xfrm>
          <a:prstGeom prst="rect">
            <a:avLst/>
          </a:prstGeom>
          <a:gradFill>
            <a:gsLst>
              <a:gs pos="0">
                <a:srgbClr val="1B192E">
                  <a:alpha val="0"/>
                </a:srgbClr>
              </a:gs>
              <a:gs pos="40000">
                <a:srgbClr val="1B192E">
                  <a:alpha val="0"/>
                </a:srgbClr>
              </a:gs>
              <a:gs pos="100000">
                <a:srgbClr val="1B192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7716581" y="571957"/>
            <a:ext cx="810000" cy="810000"/>
          </a:xfrm>
          <a:prstGeom prst="ellipse">
            <a:avLst/>
          </a:prstGeom>
          <a:gradFill>
            <a:gsLst>
              <a:gs pos="0">
                <a:srgbClr val="1B182E"/>
              </a:gs>
              <a:gs pos="60000">
                <a:srgbClr val="1B182E"/>
              </a:gs>
              <a:gs pos="100000">
                <a:srgbClr val="746EB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8" name="Google Shape;148;p22"/>
          <p:cNvSpPr txBox="1"/>
          <p:nvPr>
            <p:ph type="ctrTitle"/>
          </p:nvPr>
        </p:nvSpPr>
        <p:spPr>
          <a:xfrm>
            <a:off x="411480" y="411480"/>
            <a:ext cx="6211490" cy="939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149" name="Google Shape;149;p22"/>
          <p:cNvGrpSpPr/>
          <p:nvPr/>
        </p:nvGrpSpPr>
        <p:grpSpPr>
          <a:xfrm>
            <a:off x="1322329" y="3220781"/>
            <a:ext cx="1562914" cy="1562914"/>
            <a:chOff x="4842143" y="3556857"/>
            <a:chExt cx="2083885" cy="2083885"/>
          </a:xfrm>
        </p:grpSpPr>
        <p:sp>
          <p:nvSpPr>
            <p:cNvPr id="150" name="Google Shape;150;p22"/>
            <p:cNvSpPr/>
            <p:nvPr/>
          </p:nvSpPr>
          <p:spPr>
            <a:xfrm flipH="1" rot="8100000">
              <a:off x="5005634" y="4191206"/>
              <a:ext cx="1853969" cy="926985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1" name="Google Shape;151;p22"/>
            <p:cNvSpPr/>
            <p:nvPr/>
          </p:nvSpPr>
          <p:spPr>
            <a:xfrm flipH="1" rot="8100000">
              <a:off x="4957101" y="4052255"/>
              <a:ext cx="1853969" cy="1093090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400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2" name="Google Shape;152;p22"/>
            <p:cNvSpPr/>
            <p:nvPr/>
          </p:nvSpPr>
          <p:spPr>
            <a:xfrm flipH="1" rot="2700000">
              <a:off x="6040374" y="3601683"/>
              <a:ext cx="107098" cy="466589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3" name="Google Shape;153;p22"/>
            <p:cNvSpPr/>
            <p:nvPr/>
          </p:nvSpPr>
          <p:spPr>
            <a:xfrm flipH="1" rot="2700000">
              <a:off x="5059348" y="4582709"/>
              <a:ext cx="107098" cy="466589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54" name="Google Shape;154;p22"/>
          <p:cNvSpPr/>
          <p:nvPr>
            <p:ph idx="2" type="pic"/>
          </p:nvPr>
        </p:nvSpPr>
        <p:spPr>
          <a:xfrm>
            <a:off x="809244" y="1493043"/>
            <a:ext cx="1268730" cy="10767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55" name="Google Shape;155;p22"/>
          <p:cNvSpPr/>
          <p:nvPr>
            <p:ph idx="3" type="pic"/>
          </p:nvPr>
        </p:nvSpPr>
        <p:spPr>
          <a:xfrm>
            <a:off x="2878788" y="1493043"/>
            <a:ext cx="1268730" cy="10767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56" name="Google Shape;156;p22"/>
          <p:cNvSpPr/>
          <p:nvPr>
            <p:ph idx="4" type="pic"/>
          </p:nvPr>
        </p:nvSpPr>
        <p:spPr>
          <a:xfrm>
            <a:off x="4996482" y="1495044"/>
            <a:ext cx="1268730" cy="10767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57" name="Google Shape;157;p22"/>
          <p:cNvSpPr/>
          <p:nvPr>
            <p:ph idx="5" type="pic"/>
          </p:nvPr>
        </p:nvSpPr>
        <p:spPr>
          <a:xfrm>
            <a:off x="7114176" y="1493043"/>
            <a:ext cx="1268730" cy="10767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58" name="Google Shape;158;p22"/>
          <p:cNvSpPr txBox="1"/>
          <p:nvPr>
            <p:ph idx="1" type="body"/>
          </p:nvPr>
        </p:nvSpPr>
        <p:spPr>
          <a:xfrm>
            <a:off x="809625" y="2836069"/>
            <a:ext cx="12834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6" type="body"/>
          </p:nvPr>
        </p:nvSpPr>
        <p:spPr>
          <a:xfrm>
            <a:off x="809050" y="3174712"/>
            <a:ext cx="1283679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7" type="body"/>
          </p:nvPr>
        </p:nvSpPr>
        <p:spPr>
          <a:xfrm>
            <a:off x="2879363" y="2836069"/>
            <a:ext cx="12834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1" name="Google Shape;161;p22"/>
          <p:cNvSpPr txBox="1"/>
          <p:nvPr>
            <p:ph idx="8" type="body"/>
          </p:nvPr>
        </p:nvSpPr>
        <p:spPr>
          <a:xfrm>
            <a:off x="2878788" y="3174712"/>
            <a:ext cx="1283679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2" name="Google Shape;162;p22"/>
          <p:cNvSpPr txBox="1"/>
          <p:nvPr>
            <p:ph idx="9" type="body"/>
          </p:nvPr>
        </p:nvSpPr>
        <p:spPr>
          <a:xfrm>
            <a:off x="4997057" y="2836069"/>
            <a:ext cx="12834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22"/>
          <p:cNvSpPr txBox="1"/>
          <p:nvPr>
            <p:ph idx="13" type="body"/>
          </p:nvPr>
        </p:nvSpPr>
        <p:spPr>
          <a:xfrm>
            <a:off x="4996482" y="3174712"/>
            <a:ext cx="1283679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22"/>
          <p:cNvSpPr txBox="1"/>
          <p:nvPr>
            <p:ph idx="14" type="body"/>
          </p:nvPr>
        </p:nvSpPr>
        <p:spPr>
          <a:xfrm>
            <a:off x="7074834" y="2840466"/>
            <a:ext cx="12834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5" name="Google Shape;165;p22"/>
          <p:cNvSpPr txBox="1"/>
          <p:nvPr>
            <p:ph idx="15" type="body"/>
          </p:nvPr>
        </p:nvSpPr>
        <p:spPr>
          <a:xfrm>
            <a:off x="7074259" y="3179109"/>
            <a:ext cx="1283679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6" name="Google Shape;166;p22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2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22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ection break">
  <p:cSld name="5_Section break"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71" name="Google Shape;171;p23"/>
          <p:cNvSpPr txBox="1"/>
          <p:nvPr>
            <p:ph idx="1" type="subTitle"/>
          </p:nvPr>
        </p:nvSpPr>
        <p:spPr>
          <a:xfrm>
            <a:off x="0" y="2667961"/>
            <a:ext cx="4980214" cy="2475539"/>
          </a:xfrm>
          <a:prstGeom prst="rect">
            <a:avLst/>
          </a:prstGeom>
          <a:gradFill>
            <a:gsLst>
              <a:gs pos="0">
                <a:srgbClr val="1B192E">
                  <a:alpha val="0"/>
                </a:srgbClr>
              </a:gs>
              <a:gs pos="50000">
                <a:srgbClr val="1B192E">
                  <a:alpha val="60000"/>
                </a:srgbClr>
              </a:gs>
              <a:gs pos="100000">
                <a:srgbClr val="1B192E">
                  <a:alpha val="60000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1pPr>
            <a:lvl2pPr lvl="1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lvl="2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lvl="3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lvl="4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type="ctrTitle"/>
          </p:nvPr>
        </p:nvSpPr>
        <p:spPr>
          <a:xfrm>
            <a:off x="0" y="0"/>
            <a:ext cx="4980214" cy="2651632"/>
          </a:xfrm>
          <a:prstGeom prst="rect">
            <a:avLst/>
          </a:prstGeom>
          <a:gradFill>
            <a:gsLst>
              <a:gs pos="0">
                <a:srgbClr val="1B192E">
                  <a:alpha val="0"/>
                </a:srgbClr>
              </a:gs>
              <a:gs pos="50000">
                <a:srgbClr val="1B192E">
                  <a:alpha val="70196"/>
                </a:srgbClr>
              </a:gs>
              <a:gs pos="100000">
                <a:srgbClr val="1B192E">
                  <a:alpha val="70196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/>
            </a:lvl1pPr>
            <a:lvl2pPr lvl="1">
              <a:spcBef>
                <a:spcPts val="9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Quote">
  <p:cSld name="7_Quot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413148" y="411956"/>
            <a:ext cx="2674620" cy="25384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lay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175" name="Google Shape;175;p24"/>
          <p:cNvGrpSpPr/>
          <p:nvPr/>
        </p:nvGrpSpPr>
        <p:grpSpPr>
          <a:xfrm>
            <a:off x="8031061" y="3009454"/>
            <a:ext cx="673408" cy="700562"/>
            <a:chOff x="5129684" y="1232940"/>
            <a:chExt cx="897877" cy="934082"/>
          </a:xfrm>
        </p:grpSpPr>
        <p:sp>
          <p:nvSpPr>
            <p:cNvPr id="176" name="Google Shape;176;p24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8" name="Google Shape;178;p24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79" name="Google Shape;179;p24"/>
          <p:cNvSpPr/>
          <p:nvPr/>
        </p:nvSpPr>
        <p:spPr>
          <a:xfrm>
            <a:off x="4251585" y="3794257"/>
            <a:ext cx="810000" cy="810000"/>
          </a:xfrm>
          <a:prstGeom prst="ellipse">
            <a:avLst/>
          </a:prstGeom>
          <a:gradFill>
            <a:gsLst>
              <a:gs pos="0">
                <a:srgbClr val="1B182E"/>
              </a:gs>
              <a:gs pos="60000">
                <a:srgbClr val="1B182E"/>
              </a:gs>
              <a:gs pos="100000">
                <a:srgbClr val="746EB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413147" y="3073003"/>
            <a:ext cx="2674143" cy="1763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indent="-32385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2pPr>
            <a:lvl3pPr indent="-32385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1" name="Google Shape;181;p24"/>
          <p:cNvSpPr/>
          <p:nvPr>
            <p:ph idx="2" type="pic"/>
          </p:nvPr>
        </p:nvSpPr>
        <p:spPr>
          <a:xfrm>
            <a:off x="4151857" y="492475"/>
            <a:ext cx="3849291" cy="384929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82" name="Google Shape;182;p24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24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24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losing">
  <p:cSld name="13_Closing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ctrTitle"/>
          </p:nvPr>
        </p:nvSpPr>
        <p:spPr>
          <a:xfrm>
            <a:off x="413147" y="411956"/>
            <a:ext cx="4077890" cy="22396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25"/>
          <p:cNvSpPr txBox="1"/>
          <p:nvPr>
            <p:ph idx="1" type="subTitle"/>
          </p:nvPr>
        </p:nvSpPr>
        <p:spPr>
          <a:xfrm>
            <a:off x="413147" y="2870707"/>
            <a:ext cx="4077890" cy="169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lvl="2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lvl="3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lvl="4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8" name="Google Shape;188;p25"/>
          <p:cNvSpPr/>
          <p:nvPr>
            <p:ph idx="2" type="pic"/>
          </p:nvPr>
        </p:nvSpPr>
        <p:spPr>
          <a:xfrm>
            <a:off x="4917186" y="411480"/>
            <a:ext cx="3813048" cy="21602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89" name="Google Shape;189;p25"/>
          <p:cNvSpPr/>
          <p:nvPr>
            <p:ph idx="3" type="pic"/>
          </p:nvPr>
        </p:nvSpPr>
        <p:spPr>
          <a:xfrm>
            <a:off x="4917186" y="2571750"/>
            <a:ext cx="3813048" cy="21602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grpSp>
        <p:nvGrpSpPr>
          <p:cNvPr id="190" name="Google Shape;190;p25"/>
          <p:cNvGrpSpPr/>
          <p:nvPr/>
        </p:nvGrpSpPr>
        <p:grpSpPr>
          <a:xfrm>
            <a:off x="8272569" y="-159901"/>
            <a:ext cx="1281612" cy="1279374"/>
            <a:chOff x="11030092" y="-213201"/>
            <a:chExt cx="1708815" cy="1705831"/>
          </a:xfrm>
        </p:grpSpPr>
        <p:sp>
          <p:nvSpPr>
            <p:cNvPr id="191" name="Google Shape;191;p25"/>
            <p:cNvSpPr/>
            <p:nvPr/>
          </p:nvSpPr>
          <p:spPr>
            <a:xfrm rot="-2700000">
              <a:off x="11161347" y="125399"/>
              <a:ext cx="1341675" cy="926985"/>
            </a:xfrm>
            <a:custGeom>
              <a:rect b="b" l="l" r="r" t="t"/>
              <a:pathLst>
                <a:path extrusionOk="0" h="926985" w="134167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2" name="Google Shape;192;p25"/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3" name="Google Shape;193;p25"/>
            <p:cNvSpPr/>
            <p:nvPr/>
          </p:nvSpPr>
          <p:spPr>
            <a:xfrm rot="-2700000">
              <a:off x="11228590" y="129580"/>
              <a:ext cx="1337455" cy="1042921"/>
            </a:xfrm>
            <a:custGeom>
              <a:rect b="b" l="l" r="r" t="t"/>
              <a:pathLst>
                <a:path extrusionOk="0" h="1042921" w="1337455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rgbClr val="746EB3">
                <a:alpha val="400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94" name="Google Shape;194;p25"/>
          <p:cNvGrpSpPr/>
          <p:nvPr/>
        </p:nvGrpSpPr>
        <p:grpSpPr>
          <a:xfrm>
            <a:off x="433244" y="4133962"/>
            <a:ext cx="621269" cy="621269"/>
            <a:chOff x="10462536" y="1408249"/>
            <a:chExt cx="828358" cy="828358"/>
          </a:xfrm>
        </p:grpSpPr>
        <p:sp>
          <p:nvSpPr>
            <p:cNvPr id="195" name="Google Shape;195;p25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6" name="Google Shape;196;p25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97" name="Google Shape;197;p25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5"/>
          <p:cNvSpPr/>
          <p:nvPr/>
        </p:nvSpPr>
        <p:spPr>
          <a:xfrm>
            <a:off x="3977884" y="4070409"/>
            <a:ext cx="810000" cy="810000"/>
          </a:xfrm>
          <a:prstGeom prst="ellipse">
            <a:avLst/>
          </a:prstGeom>
          <a:gradFill>
            <a:gsLst>
              <a:gs pos="0">
                <a:srgbClr val="1B182E"/>
              </a:gs>
              <a:gs pos="60000">
                <a:srgbClr val="1B182E"/>
              </a:gs>
              <a:gs pos="100000">
                <a:srgbClr val="746EB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ctrTitle"/>
          </p:nvPr>
        </p:nvSpPr>
        <p:spPr>
          <a:xfrm>
            <a:off x="2519362" y="292380"/>
            <a:ext cx="6211490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3" name="Google Shape;203;p26"/>
          <p:cNvSpPr txBox="1"/>
          <p:nvPr>
            <p:ph idx="1" type="subTitle"/>
          </p:nvPr>
        </p:nvSpPr>
        <p:spPr>
          <a:xfrm>
            <a:off x="2519362" y="2652713"/>
            <a:ext cx="6211492" cy="1916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4" name="Google Shape;204;p26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5" name="Google Shape;205;p26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6" name="Google Shape;206;p26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6"/>
          <p:cNvSpPr/>
          <p:nvPr/>
        </p:nvSpPr>
        <p:spPr>
          <a:xfrm rot="2700000">
            <a:off x="459334" y="361416"/>
            <a:ext cx="810000" cy="947210"/>
          </a:xfrm>
          <a:custGeom>
            <a:rect b="b" l="l" r="r" t="t"/>
            <a:pathLst>
              <a:path extrusionOk="0" h="1262947" w="1080000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0">
                <a:srgbClr val="2B274A"/>
              </a:gs>
              <a:gs pos="30000">
                <a:srgbClr val="2B274A"/>
              </a:gs>
              <a:gs pos="40000">
                <a:srgbClr val="453E75"/>
              </a:gs>
              <a:gs pos="60000">
                <a:srgbClr val="2B274A"/>
              </a:gs>
              <a:gs pos="100000">
                <a:schemeClr val="dk2"/>
              </a:gs>
            </a:gsLst>
            <a:lin ang="6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8" name="Google Shape;208;p26"/>
          <p:cNvSpPr/>
          <p:nvPr/>
        </p:nvSpPr>
        <p:spPr>
          <a:xfrm rot="8100000">
            <a:off x="470134" y="621722"/>
            <a:ext cx="405000" cy="810000"/>
          </a:xfrm>
          <a:prstGeom prst="ellipse">
            <a:avLst/>
          </a:prstGeom>
          <a:gradFill>
            <a:gsLst>
              <a:gs pos="0">
                <a:srgbClr val="221F3B"/>
              </a:gs>
              <a:gs pos="50000">
                <a:srgbClr val="221F3B"/>
              </a:gs>
              <a:gs pos="100000">
                <a:srgbClr val="2B274A"/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1350602" y="1854641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10" name="Google Shape;210;p26"/>
          <p:cNvGrpSpPr/>
          <p:nvPr/>
        </p:nvGrpSpPr>
        <p:grpSpPr>
          <a:xfrm>
            <a:off x="969370" y="3224855"/>
            <a:ext cx="1562914" cy="1562914"/>
            <a:chOff x="4842143" y="3556857"/>
            <a:chExt cx="2083885" cy="2083885"/>
          </a:xfrm>
        </p:grpSpPr>
        <p:sp>
          <p:nvSpPr>
            <p:cNvPr id="211" name="Google Shape;211;p26"/>
            <p:cNvSpPr/>
            <p:nvPr/>
          </p:nvSpPr>
          <p:spPr>
            <a:xfrm flipH="1" rot="8100000">
              <a:off x="5005634" y="4191206"/>
              <a:ext cx="1853969" cy="926985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2" name="Google Shape;212;p26"/>
            <p:cNvSpPr/>
            <p:nvPr/>
          </p:nvSpPr>
          <p:spPr>
            <a:xfrm flipH="1" rot="8100000">
              <a:off x="4957101" y="4052255"/>
              <a:ext cx="1853969" cy="1093090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400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3" name="Google Shape;213;p26"/>
            <p:cNvSpPr/>
            <p:nvPr/>
          </p:nvSpPr>
          <p:spPr>
            <a:xfrm flipH="1" rot="2700000">
              <a:off x="6040374" y="3601683"/>
              <a:ext cx="107098" cy="466589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4" name="Google Shape;214;p26"/>
            <p:cNvSpPr/>
            <p:nvPr/>
          </p:nvSpPr>
          <p:spPr>
            <a:xfrm flipH="1" rot="2700000">
              <a:off x="5059348" y="4582709"/>
              <a:ext cx="107098" cy="466589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/>
          <p:nvPr/>
        </p:nvSpPr>
        <p:spPr>
          <a:xfrm>
            <a:off x="8302398" y="250031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17" name="Google Shape;217;p27"/>
          <p:cNvGrpSpPr/>
          <p:nvPr/>
        </p:nvGrpSpPr>
        <p:grpSpPr>
          <a:xfrm>
            <a:off x="175008" y="4038015"/>
            <a:ext cx="621268" cy="621268"/>
            <a:chOff x="2895711" y="1234487"/>
            <a:chExt cx="828357" cy="828357"/>
          </a:xfrm>
        </p:grpSpPr>
        <p:sp>
          <p:nvSpPr>
            <p:cNvPr id="218" name="Google Shape;218;p27"/>
            <p:cNvSpPr/>
            <p:nvPr/>
          </p:nvSpPr>
          <p:spPr>
            <a:xfrm rot="2700000">
              <a:off x="3039890" y="1332929"/>
              <a:ext cx="540000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453E75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9" name="Google Shape;219;p27"/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0">
                  <a:srgbClr val="221F3B"/>
                </a:gs>
                <a:gs pos="50000">
                  <a:srgbClr val="221F3B"/>
                </a:gs>
                <a:gs pos="100000">
                  <a:srgbClr val="2B274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20" name="Google Shape;220;p27"/>
          <p:cNvSpPr txBox="1"/>
          <p:nvPr>
            <p:ph type="title"/>
          </p:nvPr>
        </p:nvSpPr>
        <p:spPr>
          <a:xfrm>
            <a:off x="413147" y="411956"/>
            <a:ext cx="8317706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413147" y="1572881"/>
            <a:ext cx="4076700" cy="2996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27"/>
          <p:cNvSpPr txBox="1"/>
          <p:nvPr>
            <p:ph idx="2" type="body"/>
          </p:nvPr>
        </p:nvSpPr>
        <p:spPr>
          <a:xfrm>
            <a:off x="4654154" y="1572881"/>
            <a:ext cx="4076700" cy="2996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3" name="Google Shape;223;p27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4" name="Google Shape;224;p27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5" name="Google Shape;225;p27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9"/>
          <p:cNvGrpSpPr/>
          <p:nvPr/>
        </p:nvGrpSpPr>
        <p:grpSpPr>
          <a:xfrm>
            <a:off x="3564561" y="3617628"/>
            <a:ext cx="1242535" cy="1242535"/>
            <a:chOff x="2481534" y="2139594"/>
            <a:chExt cx="1656714" cy="1656714"/>
          </a:xfrm>
        </p:grpSpPr>
        <p:sp>
          <p:nvSpPr>
            <p:cNvPr id="232" name="Google Shape;232;p29"/>
            <p:cNvSpPr/>
            <p:nvPr/>
          </p:nvSpPr>
          <p:spPr>
            <a:xfrm rot="2700000">
              <a:off x="2769891" y="2336477"/>
              <a:ext cx="1080000" cy="1262947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453E75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3" name="Google Shape;233;p29"/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0">
                  <a:srgbClr val="221F3B"/>
                </a:gs>
                <a:gs pos="50000">
                  <a:srgbClr val="221F3B"/>
                </a:gs>
                <a:gs pos="100000">
                  <a:srgbClr val="2B274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34" name="Google Shape;234;p29"/>
          <p:cNvSpPr txBox="1"/>
          <p:nvPr>
            <p:ph type="title"/>
          </p:nvPr>
        </p:nvSpPr>
        <p:spPr>
          <a:xfrm>
            <a:off x="413147" y="411956"/>
            <a:ext cx="831770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5" name="Google Shape;235;p29"/>
          <p:cNvSpPr txBox="1"/>
          <p:nvPr>
            <p:ph idx="1" type="body"/>
          </p:nvPr>
        </p:nvSpPr>
        <p:spPr>
          <a:xfrm>
            <a:off x="3221831" y="1312545"/>
            <a:ext cx="5509022" cy="3257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1pPr>
            <a:lvl2pPr indent="-3048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indent="-3238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236" name="Google Shape;236;p29"/>
          <p:cNvSpPr txBox="1"/>
          <p:nvPr>
            <p:ph idx="2" type="body"/>
          </p:nvPr>
        </p:nvSpPr>
        <p:spPr>
          <a:xfrm>
            <a:off x="413147" y="1312545"/>
            <a:ext cx="2674144" cy="3257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37" name="Google Shape;237;p29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8" name="Google Shape;238;p29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9" name="Google Shape;239;p29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13147" y="413100"/>
            <a:ext cx="8317706" cy="999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13147" y="1585396"/>
            <a:ext cx="8318700" cy="2984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9845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9845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45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260">
          <p15:clr>
            <a:srgbClr val="F26B43"/>
          </p15:clr>
        </p15:guide>
        <p15:guide id="4" pos="5500">
          <p15:clr>
            <a:srgbClr val="F26B43"/>
          </p15:clr>
        </p15:guide>
        <p15:guide id="5" orient="horz" pos="259">
          <p15:clr>
            <a:srgbClr val="F26B43"/>
          </p15:clr>
        </p15:guide>
        <p15:guide id="6" orient="horz" pos="2981">
          <p15:clr>
            <a:srgbClr val="F26B43"/>
          </p15:clr>
        </p15:guide>
        <p15:guide id="7" pos="618">
          <p15:clr>
            <a:srgbClr val="A4A3A4"/>
          </p15:clr>
        </p15:guide>
        <p15:guide id="8" pos="703">
          <p15:clr>
            <a:srgbClr val="A4A3A4"/>
          </p15:clr>
        </p15:guide>
        <p15:guide id="9" pos="1060">
          <p15:clr>
            <a:srgbClr val="A4A3A4"/>
          </p15:clr>
        </p15:guide>
        <p15:guide id="10" pos="1145">
          <p15:clr>
            <a:srgbClr val="A4A3A4"/>
          </p15:clr>
        </p15:guide>
        <p15:guide id="11" pos="1502">
          <p15:clr>
            <a:srgbClr val="A4A3A4"/>
          </p15:clr>
        </p15:guide>
        <p15:guide id="12" pos="1587">
          <p15:clr>
            <a:srgbClr val="A4A3A4"/>
          </p15:clr>
        </p15:guide>
        <p15:guide id="13" pos="1945">
          <p15:clr>
            <a:srgbClr val="A4A3A4"/>
          </p15:clr>
        </p15:guide>
        <p15:guide id="14" pos="2029">
          <p15:clr>
            <a:srgbClr val="A4A3A4"/>
          </p15:clr>
        </p15:guide>
        <p15:guide id="15" pos="2387">
          <p15:clr>
            <a:srgbClr val="A4A3A4"/>
          </p15:clr>
        </p15:guide>
        <p15:guide id="16" pos="2489">
          <p15:clr>
            <a:srgbClr val="A4A3A4"/>
          </p15:clr>
        </p15:guide>
        <p15:guide id="17" pos="2829">
          <p15:clr>
            <a:srgbClr val="A4A3A4"/>
          </p15:clr>
        </p15:guide>
        <p15:guide id="18" pos="2931">
          <p15:clr>
            <a:srgbClr val="A4A3A4"/>
          </p15:clr>
        </p15:guide>
        <p15:guide id="19" pos="3271">
          <p15:clr>
            <a:srgbClr val="A4A3A4"/>
          </p15:clr>
        </p15:guide>
        <p15:guide id="20" pos="3373">
          <p15:clr>
            <a:srgbClr val="A4A3A4"/>
          </p15:clr>
        </p15:guide>
        <p15:guide id="21" pos="3713">
          <p15:clr>
            <a:srgbClr val="A4A3A4"/>
          </p15:clr>
        </p15:guide>
        <p15:guide id="22" pos="3815">
          <p15:clr>
            <a:srgbClr val="A4A3A4"/>
          </p15:clr>
        </p15:guide>
        <p15:guide id="23" pos="4156">
          <p15:clr>
            <a:srgbClr val="A4A3A4"/>
          </p15:clr>
        </p15:guide>
        <p15:guide id="24" pos="4258">
          <p15:clr>
            <a:srgbClr val="A4A3A4"/>
          </p15:clr>
        </p15:guide>
        <p15:guide id="25" pos="4615">
          <p15:clr>
            <a:srgbClr val="A4A3A4"/>
          </p15:clr>
        </p15:guide>
        <p15:guide id="26" pos="4700">
          <p15:clr>
            <a:srgbClr val="A4A3A4"/>
          </p15:clr>
        </p15:guide>
        <p15:guide id="27" pos="5057">
          <p15:clr>
            <a:srgbClr val="A4A3A4"/>
          </p15:clr>
        </p15:guide>
        <p15:guide id="28" pos="5142">
          <p15:clr>
            <a:srgbClr val="A4A3A4"/>
          </p15:clr>
        </p15:guide>
        <p15:guide id="29" orient="horz" pos="2879">
          <p15:clr>
            <a:srgbClr val="A4A3A4"/>
          </p15:clr>
        </p15:guide>
        <p15:guide id="30" orient="horz" pos="1569">
          <p15:clr>
            <a:srgbClr val="A4A3A4"/>
          </p15:clr>
        </p15:guide>
        <p15:guide id="31" orient="horz" pos="1671">
          <p15:clr>
            <a:srgbClr val="A4A3A4"/>
          </p15:clr>
        </p15:guide>
        <p15:guide id="32" orient="horz" pos="634">
          <p15:clr>
            <a:srgbClr val="A4A3A4"/>
          </p15:clr>
        </p15:guide>
        <p15:guide id="33" orient="horz" pos="719">
          <p15:clr>
            <a:srgbClr val="A4A3A4"/>
          </p15:clr>
        </p15:guide>
        <p15:guide id="34" orient="horz" pos="1110">
          <p15:clr>
            <a:srgbClr val="A4A3A4"/>
          </p15:clr>
        </p15:guide>
        <p15:guide id="35" orient="horz" pos="1195">
          <p15:clr>
            <a:srgbClr val="A4A3A4"/>
          </p15:clr>
        </p15:guide>
        <p15:guide id="36" orient="horz" pos="2045">
          <p15:clr>
            <a:srgbClr val="A4A3A4"/>
          </p15:clr>
        </p15:guide>
        <p15:guide id="37" orient="horz" pos="2130">
          <p15:clr>
            <a:srgbClr val="A4A3A4"/>
          </p15:clr>
        </p15:guide>
        <p15:guide id="38" orient="horz" pos="2504">
          <p15:clr>
            <a:srgbClr val="A4A3A4"/>
          </p15:clr>
        </p15:guide>
        <p15:guide id="39" orient="horz" pos="2606">
          <p15:clr>
            <a:srgbClr val="A4A3A4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Relationship Id="rId4" Type="http://schemas.openxmlformats.org/officeDocument/2006/relationships/image" Target="../media/image8.jpg"/><Relationship Id="rId5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23.jpg"/><Relationship Id="rId5" Type="http://schemas.openxmlformats.org/officeDocument/2006/relationships/image" Target="../media/image12.jpg"/><Relationship Id="rId6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Relationship Id="rId4" Type="http://schemas.openxmlformats.org/officeDocument/2006/relationships/image" Target="../media/image19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>
            <p:ph type="ctrTitle"/>
          </p:nvPr>
        </p:nvSpPr>
        <p:spPr>
          <a:xfrm>
            <a:off x="5999560" y="788663"/>
            <a:ext cx="2674143" cy="17886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"/>
              <a:t>Comparison of Models Forecasting Electricity Dataset</a:t>
            </a:r>
            <a:endParaRPr/>
          </a:p>
        </p:txBody>
      </p:sp>
      <p:pic>
        <p:nvPicPr>
          <p:cNvPr descr="Data Points Digital background" id="246" name="Google Shape;246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58927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sp>
        <p:nvSpPr>
          <p:cNvPr id="247" name="Google Shape;247;p30"/>
          <p:cNvSpPr txBox="1"/>
          <p:nvPr>
            <p:ph idx="1" type="body"/>
          </p:nvPr>
        </p:nvSpPr>
        <p:spPr>
          <a:xfrm>
            <a:off x="5999560" y="2676525"/>
            <a:ext cx="2674143" cy="12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778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Emily, Grace, Lavina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>
            <p:ph type="title"/>
          </p:nvPr>
        </p:nvSpPr>
        <p:spPr>
          <a:xfrm>
            <a:off x="413148" y="21884"/>
            <a:ext cx="2674143" cy="6481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53" name="Google Shape;253;p31"/>
          <p:cNvSpPr txBox="1"/>
          <p:nvPr>
            <p:ph idx="1" type="body"/>
          </p:nvPr>
        </p:nvSpPr>
        <p:spPr>
          <a:xfrm>
            <a:off x="413150" y="767701"/>
            <a:ext cx="2674200" cy="4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Problem and Business Value</a:t>
            </a:r>
            <a:endParaRPr/>
          </a:p>
          <a:p>
            <a:pPr indent="-177800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Process and Change Management</a:t>
            </a:r>
            <a:endParaRPr/>
          </a:p>
          <a:p>
            <a:pPr indent="-177800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Project Milestones and Timeline</a:t>
            </a:r>
            <a:endParaRPr/>
          </a:p>
          <a:p>
            <a:pPr indent="-177800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Data Source</a:t>
            </a:r>
            <a:endParaRPr/>
          </a:p>
          <a:p>
            <a:pPr indent="-177800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Baseline Models &amp; Results</a:t>
            </a:r>
            <a:endParaRPr/>
          </a:p>
          <a:p>
            <a:pPr indent="-177800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BasisFormer Model &amp; Results</a:t>
            </a:r>
            <a:endParaRPr/>
          </a:p>
          <a:p>
            <a:pPr indent="-177800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Further Model Comparison</a:t>
            </a:r>
            <a:endParaRPr/>
          </a:p>
          <a:p>
            <a:pPr indent="-177800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Challenges and Future Limitations</a:t>
            </a:r>
            <a:endParaRPr/>
          </a:p>
          <a:p>
            <a:pPr indent="-177800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Summary</a:t>
            </a:r>
            <a:endParaRPr/>
          </a:p>
          <a:p>
            <a:pPr indent="-177800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/>
          </a:p>
        </p:txBody>
      </p:sp>
      <p:pic>
        <p:nvPicPr>
          <p:cNvPr descr="Digital Data" id="254" name="Google Shape;25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6696" y="1197578"/>
            <a:ext cx="2586418" cy="25864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pic>
        <p:nvPicPr>
          <p:cNvPr descr="Data Points " id="255" name="Google Shape;255;p31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8931" y="447294"/>
            <a:ext cx="1697832" cy="16978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pic>
        <p:nvPicPr>
          <p:cNvPr descr="Data Background" id="256" name="Google Shape;256;p31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8709" y="2493550"/>
            <a:ext cx="2202657" cy="220265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sp>
        <p:nvSpPr>
          <p:cNvPr id="257" name="Google Shape;257;p31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</p:txBody>
      </p:sp>
      <p:sp>
        <p:nvSpPr>
          <p:cNvPr id="258" name="Google Shape;258;p31"/>
          <p:cNvSpPr txBox="1"/>
          <p:nvPr>
            <p:ph idx="11" type="ftr"/>
          </p:nvPr>
        </p:nvSpPr>
        <p:spPr>
          <a:xfrm>
            <a:off x="2519363" y="4880409"/>
            <a:ext cx="4784408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Footer Text</a:t>
            </a:r>
            <a:endParaRPr/>
          </a:p>
        </p:txBody>
      </p:sp>
      <p:sp>
        <p:nvSpPr>
          <p:cNvPr id="259" name="Google Shape;259;p31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>
            <p:ph type="title"/>
          </p:nvPr>
        </p:nvSpPr>
        <p:spPr>
          <a:xfrm>
            <a:off x="413147" y="3380400"/>
            <a:ext cx="3375421" cy="117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/>
              <a:t>Introduction</a:t>
            </a:r>
            <a:endParaRPr/>
          </a:p>
        </p:txBody>
      </p:sp>
      <p:pic>
        <p:nvPicPr>
          <p:cNvPr descr="A group of people sitting at a table" id="266" name="Google Shape;266;p3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2" l="0" r="0" t="42"/>
          <a:stretch/>
        </p:blipFill>
        <p:spPr>
          <a:xfrm>
            <a:off x="0" y="0"/>
            <a:ext cx="2290572" cy="28323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pic>
        <p:nvPicPr>
          <p:cNvPr descr="Data Points Digital background" id="267" name="Google Shape;267;p32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42" l="0" r="0" t="42"/>
          <a:stretch/>
        </p:blipFill>
        <p:spPr>
          <a:xfrm>
            <a:off x="2290572" y="0"/>
            <a:ext cx="2290572" cy="28323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pic>
        <p:nvPicPr>
          <p:cNvPr descr="Digital Graph Screen" id="268" name="Google Shape;268;p32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42" l="0" r="0" t="42"/>
          <a:stretch/>
        </p:blipFill>
        <p:spPr>
          <a:xfrm>
            <a:off x="6853428" y="0"/>
            <a:ext cx="2290572" cy="28323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sp>
        <p:nvSpPr>
          <p:cNvPr id="269" name="Google Shape;269;p32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</p:txBody>
      </p:sp>
      <p:sp>
        <p:nvSpPr>
          <p:cNvPr id="270" name="Google Shape;270;p32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person drawing on a white board" id="271" name="Google Shape;271;p32"/>
          <p:cNvPicPr preferRelativeResize="0"/>
          <p:nvPr>
            <p:ph idx="4" type="pic"/>
          </p:nvPr>
        </p:nvPicPr>
        <p:blipFill rotWithShape="1">
          <a:blip r:embed="rId6">
            <a:alphaModFix/>
          </a:blip>
          <a:srcRect b="42" l="0" r="0" t="42"/>
          <a:stretch/>
        </p:blipFill>
        <p:spPr>
          <a:xfrm>
            <a:off x="4562856" y="0"/>
            <a:ext cx="2290572" cy="28323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sp>
        <p:nvSpPr>
          <p:cNvPr id="272" name="Google Shape;272;p32"/>
          <p:cNvSpPr txBox="1"/>
          <p:nvPr>
            <p:ph idx="4294967295" type="body"/>
          </p:nvPr>
        </p:nvSpPr>
        <p:spPr>
          <a:xfrm>
            <a:off x="3946922" y="3381375"/>
            <a:ext cx="4666059" cy="1172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developed a high-precision forecasting ecosystem that leverages an ensemble of advanced models to deliver 24-hour electricity load predictions for 370 unique grid clients. By moving beyond traditional baselines towards a specialized, cluster-based architecture, this system captures complex consumption patterns with significantly higher accuracy.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/>
          <p:nvPr/>
        </p:nvSpPr>
        <p:spPr>
          <a:xfrm rot="2700000">
            <a:off x="459616" y="361324"/>
            <a:ext cx="809496" cy="946621"/>
          </a:xfrm>
          <a:custGeom>
            <a:rect b="b" l="l" r="r" t="t"/>
            <a:pathLst>
              <a:path extrusionOk="0" h="1262947" w="1080000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0">
                <a:srgbClr val="2B274A"/>
              </a:gs>
              <a:gs pos="30000">
                <a:srgbClr val="2B274A"/>
              </a:gs>
              <a:gs pos="40000">
                <a:srgbClr val="453E75"/>
              </a:gs>
              <a:gs pos="60000">
                <a:srgbClr val="2B274A"/>
              </a:gs>
              <a:gs pos="100000">
                <a:schemeClr val="dk2"/>
              </a:gs>
            </a:gsLst>
            <a:lin ang="599887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9" name="Google Shape;279;p33"/>
          <p:cNvSpPr/>
          <p:nvPr/>
        </p:nvSpPr>
        <p:spPr>
          <a:xfrm rot="8100000">
            <a:off x="470015" y="621851"/>
            <a:ext cx="405172" cy="809920"/>
          </a:xfrm>
          <a:prstGeom prst="ellipse">
            <a:avLst/>
          </a:prstGeom>
          <a:gradFill>
            <a:gsLst>
              <a:gs pos="0">
                <a:srgbClr val="221F3B"/>
              </a:gs>
              <a:gs pos="50000">
                <a:srgbClr val="221F3B"/>
              </a:gs>
              <a:gs pos="100000">
                <a:srgbClr val="2B274A"/>
              </a:gs>
            </a:gsLst>
            <a:lin ang="540001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0" name="Google Shape;280;p33"/>
          <p:cNvSpPr/>
          <p:nvPr/>
        </p:nvSpPr>
        <p:spPr>
          <a:xfrm>
            <a:off x="1350602" y="1854641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81" name="Google Shape;281;p33"/>
          <p:cNvGrpSpPr/>
          <p:nvPr/>
        </p:nvGrpSpPr>
        <p:grpSpPr>
          <a:xfrm>
            <a:off x="968298" y="3224925"/>
            <a:ext cx="1562844" cy="1562844"/>
            <a:chOff x="4840714" y="3556951"/>
            <a:chExt cx="2083792" cy="2083792"/>
          </a:xfrm>
        </p:grpSpPr>
        <p:sp>
          <p:nvSpPr>
            <p:cNvPr id="282" name="Google Shape;282;p33"/>
            <p:cNvSpPr/>
            <p:nvPr/>
          </p:nvSpPr>
          <p:spPr>
            <a:xfrm flipH="1" rot="8100000">
              <a:off x="5006330" y="4192886"/>
              <a:ext cx="1851817" cy="925909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83" name="Google Shape;283;p33"/>
            <p:cNvSpPr/>
            <p:nvPr/>
          </p:nvSpPr>
          <p:spPr>
            <a:xfrm flipH="1" rot="8100000">
              <a:off x="4956702" y="4051292"/>
              <a:ext cx="1851817" cy="1095110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400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84" name="Google Shape;284;p33"/>
            <p:cNvSpPr/>
            <p:nvPr/>
          </p:nvSpPr>
          <p:spPr>
            <a:xfrm flipH="1" rot="2700000">
              <a:off x="6040495" y="3601733"/>
              <a:ext cx="106915" cy="466690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85" name="Google Shape;285;p33"/>
            <p:cNvSpPr/>
            <p:nvPr/>
          </p:nvSpPr>
          <p:spPr>
            <a:xfrm flipH="1" rot="2700000">
              <a:off x="5059469" y="4582759"/>
              <a:ext cx="106915" cy="466690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86" name="Google Shape;286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Data Points Digital background" id="287" name="Google Shape;287;p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sp>
        <p:nvSpPr>
          <p:cNvPr id="288" name="Google Shape;288;p33"/>
          <p:cNvSpPr/>
          <p:nvPr/>
        </p:nvSpPr>
        <p:spPr>
          <a:xfrm>
            <a:off x="0" y="4330297"/>
            <a:ext cx="9144000" cy="813300"/>
          </a:xfrm>
          <a:prstGeom prst="rect">
            <a:avLst/>
          </a:prstGeom>
          <a:gradFill>
            <a:gsLst>
              <a:gs pos="0">
                <a:srgbClr val="1B192E">
                  <a:alpha val="0"/>
                </a:srgbClr>
              </a:gs>
              <a:gs pos="28000">
                <a:srgbClr val="1B192E">
                  <a:alpha val="0"/>
                </a:srgbClr>
              </a:gs>
              <a:gs pos="90000">
                <a:srgbClr val="1B192E">
                  <a:alpha val="60000"/>
                </a:srgbClr>
              </a:gs>
              <a:gs pos="100000">
                <a:srgbClr val="1B192E">
                  <a:alpha val="6000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9" name="Google Shape;289;p33"/>
          <p:cNvSpPr/>
          <p:nvPr/>
        </p:nvSpPr>
        <p:spPr>
          <a:xfrm rot="10800000">
            <a:off x="175" y="0"/>
            <a:ext cx="9156300" cy="5143500"/>
          </a:xfrm>
          <a:prstGeom prst="rect">
            <a:avLst/>
          </a:prstGeom>
          <a:gradFill>
            <a:gsLst>
              <a:gs pos="0">
                <a:srgbClr val="1B192E">
                  <a:alpha val="0"/>
                </a:srgbClr>
              </a:gs>
              <a:gs pos="50000">
                <a:srgbClr val="1B192E">
                  <a:alpha val="60000"/>
                </a:srgbClr>
              </a:gs>
              <a:gs pos="100000">
                <a:srgbClr val="1B192E">
                  <a:alpha val="6000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0" name="Google Shape;290;p33"/>
          <p:cNvSpPr txBox="1"/>
          <p:nvPr>
            <p:ph idx="10" type="dt"/>
          </p:nvPr>
        </p:nvSpPr>
        <p:spPr>
          <a:xfrm>
            <a:off x="413147" y="4880409"/>
            <a:ext cx="1971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</p:txBody>
      </p:sp>
      <p:sp>
        <p:nvSpPr>
          <p:cNvPr id="291" name="Google Shape;291;p33"/>
          <p:cNvSpPr txBox="1"/>
          <p:nvPr>
            <p:ph idx="12" type="sldNum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33"/>
          <p:cNvSpPr txBox="1"/>
          <p:nvPr>
            <p:ph type="ctrTitle"/>
          </p:nvPr>
        </p:nvSpPr>
        <p:spPr>
          <a:xfrm>
            <a:off x="178276" y="44375"/>
            <a:ext cx="40779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lang="en" sz="3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Problem</a:t>
            </a:r>
            <a:endParaRPr/>
          </a:p>
        </p:txBody>
      </p:sp>
      <p:sp>
        <p:nvSpPr>
          <p:cNvPr id="293" name="Google Shape;293;p33"/>
          <p:cNvSpPr txBox="1"/>
          <p:nvPr>
            <p:ph idx="1" type="subTitle"/>
          </p:nvPr>
        </p:nvSpPr>
        <p:spPr>
          <a:xfrm>
            <a:off x="178276" y="734425"/>
            <a:ext cx="41334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"/>
              <a:t>High operational costs and grid instability caused by a "one-size-fits-all" forecasting approach that fails to capture the unique, spiky consumption patterns of diverse consumer clusters.</a:t>
            </a:r>
            <a:endParaRPr/>
          </a:p>
        </p:txBody>
      </p:sp>
      <p:sp>
        <p:nvSpPr>
          <p:cNvPr id="294" name="Google Shape;294;p33"/>
          <p:cNvSpPr txBox="1"/>
          <p:nvPr/>
        </p:nvSpPr>
        <p:spPr>
          <a:xfrm>
            <a:off x="4483926" y="44375"/>
            <a:ext cx="45336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Objective</a:t>
            </a:r>
            <a:endParaRPr sz="1100"/>
          </a:p>
        </p:txBody>
      </p:sp>
      <p:sp>
        <p:nvSpPr>
          <p:cNvPr id="295" name="Google Shape;295;p33"/>
          <p:cNvSpPr txBox="1"/>
          <p:nvPr/>
        </p:nvSpPr>
        <p:spPr>
          <a:xfrm>
            <a:off x="4508466" y="683063"/>
            <a:ext cx="45999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Deploy a cluster-optimized forecasting ecosystem to deliver 24-hour predictive intelligence while integrating an Agentic AI interface for real-time stakeholder decision-making.</a:t>
            </a:r>
            <a:endParaRPr sz="1500"/>
          </a:p>
        </p:txBody>
      </p:sp>
      <p:grpSp>
        <p:nvGrpSpPr>
          <p:cNvPr id="296" name="Google Shape;296;p33"/>
          <p:cNvGrpSpPr/>
          <p:nvPr/>
        </p:nvGrpSpPr>
        <p:grpSpPr>
          <a:xfrm>
            <a:off x="405750" y="2060625"/>
            <a:ext cx="2920250" cy="2509000"/>
            <a:chOff x="405750" y="2060625"/>
            <a:chExt cx="2920250" cy="2509000"/>
          </a:xfrm>
        </p:grpSpPr>
        <p:grpSp>
          <p:nvGrpSpPr>
            <p:cNvPr id="297" name="Google Shape;297;p33"/>
            <p:cNvGrpSpPr/>
            <p:nvPr/>
          </p:nvGrpSpPr>
          <p:grpSpPr>
            <a:xfrm>
              <a:off x="440900" y="2060675"/>
              <a:ext cx="2159700" cy="2508950"/>
              <a:chOff x="413150" y="2060625"/>
              <a:chExt cx="2159700" cy="2508950"/>
            </a:xfrm>
          </p:grpSpPr>
          <p:sp>
            <p:nvSpPr>
              <p:cNvPr id="298" name="Google Shape;298;p33"/>
              <p:cNvSpPr/>
              <p:nvPr/>
            </p:nvSpPr>
            <p:spPr>
              <a:xfrm>
                <a:off x="413150" y="2066675"/>
                <a:ext cx="2159700" cy="2502900"/>
              </a:xfrm>
              <a:prstGeom prst="roundRect">
                <a:avLst>
                  <a:gd fmla="val 3366" name="adj"/>
                </a:avLst>
              </a:prstGeom>
              <a:solidFill>
                <a:schemeClr val="accent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99" name="Google Shape;299;p33"/>
              <p:cNvSpPr/>
              <p:nvPr/>
            </p:nvSpPr>
            <p:spPr>
              <a:xfrm>
                <a:off x="413150" y="2060625"/>
                <a:ext cx="2159700" cy="430200"/>
              </a:xfrm>
              <a:prstGeom prst="roundRect">
                <a:avLst>
                  <a:gd fmla="val 3366" name="adj"/>
                </a:avLst>
              </a:prstGeom>
              <a:gradFill>
                <a:gsLst>
                  <a:gs pos="0">
                    <a:srgbClr val="343059"/>
                  </a:gs>
                  <a:gs pos="100000">
                    <a:srgbClr val="030304"/>
                  </a:gs>
                </a:gsLst>
                <a:lin ang="5400012" scaled="0"/>
              </a:gra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sp>
          <p:nvSpPr>
            <p:cNvPr id="300" name="Google Shape;300;p33"/>
            <p:cNvSpPr txBox="1"/>
            <p:nvPr/>
          </p:nvSpPr>
          <p:spPr>
            <a:xfrm>
              <a:off x="405750" y="2529775"/>
              <a:ext cx="2159700" cy="19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Static, manual forecasting using legacy baselines like SARIMA/Prophet.</a:t>
              </a:r>
              <a:endParaRPr sz="1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High variance in error (MAPE) during peak holidays and seasonal transitions.</a:t>
              </a:r>
              <a:endParaRPr sz="1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Technical barriers requiring data scientists to interpret results for management.</a:t>
              </a:r>
              <a:endParaRPr sz="1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01" name="Google Shape;301;p33"/>
            <p:cNvSpPr txBox="1"/>
            <p:nvPr/>
          </p:nvSpPr>
          <p:spPr>
            <a:xfrm>
              <a:off x="476075" y="2060625"/>
              <a:ext cx="12063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Play"/>
                <a:buNone/>
              </a:pPr>
              <a:r>
                <a:rPr b="0" i="0" lang="en" sz="2500" u="none" cap="none" strike="noStrike">
                  <a:solidFill>
                    <a:schemeClr val="lt1"/>
                  </a:solidFill>
                  <a:latin typeface="Play"/>
                  <a:ea typeface="Play"/>
                  <a:cs typeface="Play"/>
                  <a:sym typeface="Play"/>
                </a:rPr>
                <a:t>From:</a:t>
              </a:r>
              <a:endParaRPr sz="300"/>
            </a:p>
          </p:txBody>
        </p:sp>
        <p:pic>
          <p:nvPicPr>
            <p:cNvPr id="302" name="Google Shape;30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69406" y="2100725"/>
              <a:ext cx="349975" cy="349999"/>
            </a:xfrm>
            <a:prstGeom prst="rect">
              <a:avLst/>
            </a:prstGeom>
            <a:gradFill>
              <a:gsLst>
                <a:gs pos="0">
                  <a:srgbClr val="1B192E">
                    <a:alpha val="0"/>
                  </a:srgbClr>
                </a:gs>
                <a:gs pos="50000">
                  <a:srgbClr val="1B192E">
                    <a:alpha val="60000"/>
                  </a:srgbClr>
                </a:gs>
                <a:gs pos="100000">
                  <a:srgbClr val="1B192E">
                    <a:alpha val="60000"/>
                  </a:srgbClr>
                </a:gs>
              </a:gsLst>
              <a:lin ang="0" scaled="0"/>
            </a:gradFill>
            <a:ln>
              <a:noFill/>
            </a:ln>
          </p:spPr>
        </p:pic>
        <p:sp>
          <p:nvSpPr>
            <p:cNvPr id="303" name="Google Shape;303;p33"/>
            <p:cNvSpPr/>
            <p:nvPr/>
          </p:nvSpPr>
          <p:spPr>
            <a:xfrm>
              <a:off x="2600600" y="2908950"/>
              <a:ext cx="725400" cy="8124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CBCBDC"/>
                </a:gs>
                <a:gs pos="100000">
                  <a:srgbClr val="8484A0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304" name="Google Shape;304;p33"/>
          <p:cNvGrpSpPr/>
          <p:nvPr/>
        </p:nvGrpSpPr>
        <p:grpSpPr>
          <a:xfrm>
            <a:off x="3367150" y="2060625"/>
            <a:ext cx="2920250" cy="2734750"/>
            <a:chOff x="304525" y="2060625"/>
            <a:chExt cx="2920250" cy="2734750"/>
          </a:xfrm>
        </p:grpSpPr>
        <p:grpSp>
          <p:nvGrpSpPr>
            <p:cNvPr id="305" name="Google Shape;305;p33"/>
            <p:cNvGrpSpPr/>
            <p:nvPr/>
          </p:nvGrpSpPr>
          <p:grpSpPr>
            <a:xfrm>
              <a:off x="339675" y="2060675"/>
              <a:ext cx="2159700" cy="2508950"/>
              <a:chOff x="311925" y="2060625"/>
              <a:chExt cx="2159700" cy="2508950"/>
            </a:xfrm>
          </p:grpSpPr>
          <p:sp>
            <p:nvSpPr>
              <p:cNvPr id="306" name="Google Shape;306;p33"/>
              <p:cNvSpPr/>
              <p:nvPr/>
            </p:nvSpPr>
            <p:spPr>
              <a:xfrm>
                <a:off x="311925" y="2066675"/>
                <a:ext cx="2159700" cy="2502900"/>
              </a:xfrm>
              <a:prstGeom prst="roundRect">
                <a:avLst>
                  <a:gd fmla="val 3366" name="adj"/>
                </a:avLst>
              </a:prstGeom>
              <a:solidFill>
                <a:schemeClr val="accent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307" name="Google Shape;307;p33"/>
              <p:cNvSpPr/>
              <p:nvPr/>
            </p:nvSpPr>
            <p:spPr>
              <a:xfrm>
                <a:off x="311925" y="2060625"/>
                <a:ext cx="2159700" cy="430200"/>
              </a:xfrm>
              <a:prstGeom prst="roundRect">
                <a:avLst>
                  <a:gd fmla="val 3366" name="adj"/>
                </a:avLst>
              </a:prstGeom>
              <a:gradFill>
                <a:gsLst>
                  <a:gs pos="0">
                    <a:srgbClr val="343059"/>
                  </a:gs>
                  <a:gs pos="100000">
                    <a:srgbClr val="030304"/>
                  </a:gs>
                </a:gsLst>
                <a:lin ang="5400012" scaled="0"/>
              </a:gra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sp>
          <p:nvSpPr>
            <p:cNvPr id="308" name="Google Shape;308;p33"/>
            <p:cNvSpPr txBox="1"/>
            <p:nvPr/>
          </p:nvSpPr>
          <p:spPr>
            <a:xfrm>
              <a:off x="304525" y="2529775"/>
              <a:ext cx="2159700" cy="22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Specialized, cluster-based modeling using a SOTA Deep Learning ensemble.</a:t>
              </a:r>
              <a:endParaRPr sz="1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Targeted precision that identifies and adapts to unique consumer "Bases" and profiles.</a:t>
              </a:r>
              <a:endParaRPr sz="1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Agentic workflow allowing managers to pull forecasts instantly via natural language.</a:t>
              </a:r>
              <a:endParaRPr sz="1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09" name="Google Shape;309;p33"/>
            <p:cNvSpPr txBox="1"/>
            <p:nvPr/>
          </p:nvSpPr>
          <p:spPr>
            <a:xfrm>
              <a:off x="374850" y="2060625"/>
              <a:ext cx="12063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Play"/>
                <a:buNone/>
              </a:pPr>
              <a:r>
                <a:rPr lang="en" sz="2500">
                  <a:solidFill>
                    <a:schemeClr val="lt1"/>
                  </a:solidFill>
                  <a:latin typeface="Play"/>
                  <a:ea typeface="Play"/>
                  <a:cs typeface="Play"/>
                  <a:sym typeface="Play"/>
                </a:rPr>
                <a:t>To:</a:t>
              </a:r>
              <a:endParaRPr sz="300"/>
            </a:p>
          </p:txBody>
        </p:sp>
        <p:pic>
          <p:nvPicPr>
            <p:cNvPr id="310" name="Google Shape;3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2068181" y="2100725"/>
              <a:ext cx="349975" cy="349999"/>
            </a:xfrm>
            <a:prstGeom prst="rect">
              <a:avLst/>
            </a:prstGeom>
            <a:gradFill>
              <a:gsLst>
                <a:gs pos="0">
                  <a:srgbClr val="1B192E">
                    <a:alpha val="0"/>
                  </a:srgbClr>
                </a:gs>
                <a:gs pos="50000">
                  <a:srgbClr val="1B192E">
                    <a:alpha val="60000"/>
                  </a:srgbClr>
                </a:gs>
                <a:gs pos="100000">
                  <a:srgbClr val="1B192E">
                    <a:alpha val="60000"/>
                  </a:srgbClr>
                </a:gs>
              </a:gsLst>
              <a:lin ang="0" scaled="0"/>
            </a:gradFill>
            <a:ln>
              <a:noFill/>
            </a:ln>
          </p:spPr>
        </p:pic>
        <p:sp>
          <p:nvSpPr>
            <p:cNvPr id="311" name="Google Shape;311;p33"/>
            <p:cNvSpPr/>
            <p:nvPr/>
          </p:nvSpPr>
          <p:spPr>
            <a:xfrm>
              <a:off x="2499375" y="2908950"/>
              <a:ext cx="725400" cy="8124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CBCBDC"/>
                </a:gs>
                <a:gs pos="100000">
                  <a:srgbClr val="8484A0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id="312" name="Google Shape;31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0398" y="2124650"/>
            <a:ext cx="521375" cy="521375"/>
          </a:xfrm>
          <a:prstGeom prst="rect">
            <a:avLst/>
          </a:prstGeom>
          <a:gradFill>
            <a:gsLst>
              <a:gs pos="0">
                <a:srgbClr val="1B192E">
                  <a:alpha val="0"/>
                </a:srgbClr>
              </a:gs>
              <a:gs pos="50000">
                <a:srgbClr val="1B192E">
                  <a:alpha val="60000"/>
                </a:srgbClr>
              </a:gs>
              <a:gs pos="100000">
                <a:srgbClr val="1B192E">
                  <a:alpha val="60000"/>
                </a:srgbClr>
              </a:gs>
            </a:gsLst>
            <a:lin ang="0" scaled="0"/>
          </a:gradFill>
          <a:ln>
            <a:noFill/>
          </a:ln>
        </p:spPr>
      </p:pic>
      <p:pic>
        <p:nvPicPr>
          <p:cNvPr id="313" name="Google Shape;313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6148" y="3012925"/>
            <a:ext cx="549875" cy="54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80398" y="3929700"/>
            <a:ext cx="549875" cy="549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3"/>
          <p:cNvSpPr txBox="1"/>
          <p:nvPr/>
        </p:nvSpPr>
        <p:spPr>
          <a:xfrm>
            <a:off x="6966461" y="2021875"/>
            <a:ext cx="2211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Saved Operational Costs</a:t>
            </a:r>
            <a:endParaRPr b="1" sz="17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16" name="Google Shape;316;p33"/>
          <p:cNvSpPr txBox="1"/>
          <p:nvPr/>
        </p:nvSpPr>
        <p:spPr>
          <a:xfrm>
            <a:off x="6966611" y="2943200"/>
            <a:ext cx="2211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Proactive Grid Stability</a:t>
            </a:r>
            <a:endParaRPr b="1" sz="17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17" name="Google Shape;317;p33"/>
          <p:cNvSpPr txBox="1"/>
          <p:nvPr/>
        </p:nvSpPr>
        <p:spPr>
          <a:xfrm>
            <a:off x="6966611" y="3870575"/>
            <a:ext cx="2259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Strategic Resource Allocation</a:t>
            </a:r>
            <a:endParaRPr b="1" sz="17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4"/>
          <p:cNvSpPr txBox="1"/>
          <p:nvPr>
            <p:ph type="title"/>
          </p:nvPr>
        </p:nvSpPr>
        <p:spPr>
          <a:xfrm>
            <a:off x="413147" y="411956"/>
            <a:ext cx="8323163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 sz="3500"/>
              <a:t>Process, Standardization and Automation</a:t>
            </a:r>
            <a:endParaRPr sz="3500"/>
          </a:p>
        </p:txBody>
      </p:sp>
      <p:sp>
        <p:nvSpPr>
          <p:cNvPr id="323" name="Google Shape;323;p34"/>
          <p:cNvSpPr txBox="1"/>
          <p:nvPr>
            <p:ph idx="1" type="body"/>
          </p:nvPr>
        </p:nvSpPr>
        <p:spPr>
          <a:xfrm>
            <a:off x="413148" y="1298531"/>
            <a:ext cx="2672952" cy="4015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Data Processing &amp; Clustering</a:t>
            </a:r>
            <a:endParaRPr/>
          </a:p>
        </p:txBody>
      </p:sp>
      <p:sp>
        <p:nvSpPr>
          <p:cNvPr id="324" name="Google Shape;324;p34"/>
          <p:cNvSpPr txBox="1"/>
          <p:nvPr>
            <p:ph idx="2" type="body"/>
          </p:nvPr>
        </p:nvSpPr>
        <p:spPr>
          <a:xfrm>
            <a:off x="419607" y="1824228"/>
            <a:ext cx="2672952" cy="263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177165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b="1" lang="en"/>
              <a:t>Feature Extraction</a:t>
            </a:r>
            <a:r>
              <a:rPr lang="en"/>
              <a:t>: Automated calculation of consumption profiles, including weekend/weekday ratios and seasonal strength across 370 clients</a:t>
            </a:r>
            <a:endParaRPr/>
          </a:p>
          <a:p>
            <a:pPr indent="-177165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b="1" lang="en"/>
              <a:t>K-means Clustering: </a:t>
            </a:r>
            <a:r>
              <a:rPr lang="en"/>
              <a:t>Implementation of a 4-cluster strategy to group consumers with similar “Bases” and usage patterns</a:t>
            </a:r>
            <a:endParaRPr/>
          </a:p>
          <a:p>
            <a:pPr indent="-177165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b="1" lang="en"/>
              <a:t>Dataset Standard: </a:t>
            </a:r>
            <a:r>
              <a:rPr lang="en"/>
              <a:t>Transformation of raw 15-minute readings into hourly aggregated CSVs formatted </a:t>
            </a:r>
            <a:r>
              <a:rPr lang="en"/>
              <a:t>specifically for Deep Learning ingestion</a:t>
            </a:r>
            <a:endParaRPr/>
          </a:p>
        </p:txBody>
      </p:sp>
      <p:sp>
        <p:nvSpPr>
          <p:cNvPr id="325" name="Google Shape;325;p34"/>
          <p:cNvSpPr txBox="1"/>
          <p:nvPr>
            <p:ph idx="3" type="body"/>
          </p:nvPr>
        </p:nvSpPr>
        <p:spPr>
          <a:xfrm>
            <a:off x="3256180" y="1298531"/>
            <a:ext cx="2674620" cy="4015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-1778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Unified Training Architecture</a:t>
            </a:r>
            <a:endParaRPr/>
          </a:p>
        </p:txBody>
      </p:sp>
      <p:sp>
        <p:nvSpPr>
          <p:cNvPr id="326" name="Google Shape;326;p34"/>
          <p:cNvSpPr txBox="1"/>
          <p:nvPr>
            <p:ph idx="4" type="body"/>
          </p:nvPr>
        </p:nvSpPr>
        <p:spPr>
          <a:xfrm>
            <a:off x="3256180" y="1820528"/>
            <a:ext cx="2631566" cy="263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18415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</a:pPr>
            <a:r>
              <a:rPr b="1" lang="en"/>
              <a:t>Ensemble</a:t>
            </a:r>
            <a:r>
              <a:rPr b="1" lang="en"/>
              <a:t> Strategy: </a:t>
            </a:r>
            <a:r>
              <a:rPr lang="en"/>
              <a:t>Simultaneous training of BasisFormer, PatchTST, and Prophet models to establish a multi-tier performance baseline</a:t>
            </a:r>
            <a:endParaRPr/>
          </a:p>
          <a:p>
            <a:pPr indent="-184150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</a:pPr>
            <a:r>
              <a:rPr b="1" lang="en"/>
              <a:t>Evaluation Protocol: </a:t>
            </a:r>
            <a:r>
              <a:rPr lang="en"/>
              <a:t>Standardized sliding window evaluation using 0-100 MAPE to ensure cross-cluster </a:t>
            </a:r>
            <a:r>
              <a:rPr lang="en"/>
              <a:t>comparability</a:t>
            </a:r>
            <a:endParaRPr/>
          </a:p>
          <a:p>
            <a:pPr indent="-184150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</a:pPr>
            <a:r>
              <a:rPr b="1" lang="en"/>
              <a:t>Checkpoint Persistence: </a:t>
            </a:r>
            <a:r>
              <a:rPr lang="en"/>
              <a:t>Systematically saving model weights to an organized directory for instant deployment</a:t>
            </a:r>
            <a:endParaRPr/>
          </a:p>
        </p:txBody>
      </p:sp>
      <p:sp>
        <p:nvSpPr>
          <p:cNvPr id="327" name="Google Shape;327;p34"/>
          <p:cNvSpPr txBox="1"/>
          <p:nvPr>
            <p:ph idx="5" type="body"/>
          </p:nvPr>
        </p:nvSpPr>
        <p:spPr>
          <a:xfrm>
            <a:off x="6104744" y="1298531"/>
            <a:ext cx="2674620" cy="4015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-1778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Agentic Automation</a:t>
            </a:r>
            <a:endParaRPr/>
          </a:p>
        </p:txBody>
      </p:sp>
      <p:sp>
        <p:nvSpPr>
          <p:cNvPr id="328" name="Google Shape;328;p34"/>
          <p:cNvSpPr txBox="1"/>
          <p:nvPr>
            <p:ph idx="6" type="body"/>
          </p:nvPr>
        </p:nvSpPr>
        <p:spPr>
          <a:xfrm>
            <a:off x="6104744" y="1820528"/>
            <a:ext cx="2631566" cy="263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177958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b="1" lang="en"/>
              <a:t>N8n Orchestration: </a:t>
            </a:r>
            <a:r>
              <a:rPr lang="en"/>
              <a:t>Designing</a:t>
            </a:r>
            <a:r>
              <a:rPr lang="en"/>
              <a:t> a low-code workflow that acts as the </a:t>
            </a:r>
            <a:r>
              <a:rPr lang="en"/>
              <a:t>switchboard</a:t>
            </a:r>
            <a:r>
              <a:rPr lang="en"/>
              <a:t> for all incoming manager requests</a:t>
            </a:r>
            <a:endParaRPr/>
          </a:p>
          <a:p>
            <a:pPr indent="-177958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b="1" lang="en"/>
              <a:t>Intelligent Routing: </a:t>
            </a:r>
            <a:r>
              <a:rPr lang="en"/>
              <a:t>Scripting the Agent to automatically map Consumer IDs to their corresponding cluster model without human intervention</a:t>
            </a:r>
            <a:endParaRPr/>
          </a:p>
          <a:p>
            <a:pPr indent="-177958" lvl="0" marL="1778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b="1" lang="en"/>
              <a:t>Natural Language UX: </a:t>
            </a:r>
            <a:r>
              <a:rPr lang="en"/>
              <a:t>Enables non-technical stakeholders to trigger complex 24-hour forecasting via a simple chat interface</a:t>
            </a:r>
            <a:endParaRPr/>
          </a:p>
        </p:txBody>
      </p:sp>
      <p:sp>
        <p:nvSpPr>
          <p:cNvPr id="329" name="Google Shape;329;p34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</p:txBody>
      </p:sp>
      <p:sp>
        <p:nvSpPr>
          <p:cNvPr id="330" name="Google Shape;330;p34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 txBox="1"/>
          <p:nvPr>
            <p:ph type="title"/>
          </p:nvPr>
        </p:nvSpPr>
        <p:spPr>
          <a:xfrm>
            <a:off x="413146" y="411956"/>
            <a:ext cx="83187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/>
              <a:t>Timeline</a:t>
            </a:r>
            <a:endParaRPr/>
          </a:p>
        </p:txBody>
      </p:sp>
      <p:grpSp>
        <p:nvGrpSpPr>
          <p:cNvPr id="337" name="Google Shape;337;p35"/>
          <p:cNvGrpSpPr/>
          <p:nvPr/>
        </p:nvGrpSpPr>
        <p:grpSpPr>
          <a:xfrm>
            <a:off x="415584" y="1584722"/>
            <a:ext cx="8312832" cy="2984896"/>
            <a:chOff x="3249" y="0"/>
            <a:chExt cx="11083776" cy="3979861"/>
          </a:xfrm>
        </p:grpSpPr>
        <p:sp>
          <p:nvSpPr>
            <p:cNvPr id="338" name="Google Shape;338;p35"/>
            <p:cNvSpPr/>
            <p:nvPr/>
          </p:nvSpPr>
          <p:spPr>
            <a:xfrm rot="-5400000">
              <a:off x="1434223" y="1011950"/>
              <a:ext cx="397986" cy="195596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accent5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5"/>
            <p:cNvSpPr txBox="1"/>
            <p:nvPr/>
          </p:nvSpPr>
          <p:spPr>
            <a:xfrm>
              <a:off x="674664" y="1810365"/>
              <a:ext cx="1936532" cy="359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102875" lIns="102875" spcFirstLastPara="1" rIns="102875" wrap="square" tIns="102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Gill Sans"/>
                <a:buNone/>
              </a:pPr>
              <a:r>
                <a:rPr lang="en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Data Foundation</a:t>
              </a:r>
              <a:endParaRPr sz="1100"/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3249" y="0"/>
              <a:ext cx="3259934" cy="13929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5"/>
            <p:cNvSpPr txBox="1"/>
            <p:nvPr/>
          </p:nvSpPr>
          <p:spPr>
            <a:xfrm>
              <a:off x="3249" y="0"/>
              <a:ext cx="3259934" cy="139295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b" bIns="102875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Noto Sans Symbols"/>
                <a:buNone/>
              </a:pPr>
              <a:r>
                <a:rPr lang="en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Discovery and Engineering</a:t>
              </a:r>
              <a:endParaRPr sz="1100"/>
            </a:p>
          </p:txBody>
        </p:sp>
        <p:cxnSp>
          <p:nvCxnSpPr>
            <p:cNvPr id="342" name="Google Shape;342;p35"/>
            <p:cNvCxnSpPr/>
            <p:nvPr/>
          </p:nvCxnSpPr>
          <p:spPr>
            <a:xfrm>
              <a:off x="1633216" y="1472548"/>
              <a:ext cx="0" cy="318388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343" name="Google Shape;343;p35"/>
            <p:cNvSpPr/>
            <p:nvPr/>
          </p:nvSpPr>
          <p:spPr>
            <a:xfrm>
              <a:off x="1593417" y="1392951"/>
              <a:ext cx="79597" cy="79597"/>
            </a:xfrm>
            <a:prstGeom prst="ellipse">
              <a:avLst/>
            </a:prstGeom>
            <a:solidFill>
              <a:schemeClr val="accent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5"/>
            <p:cNvSpPr/>
            <p:nvPr/>
          </p:nvSpPr>
          <p:spPr>
            <a:xfrm>
              <a:off x="2611196" y="1790937"/>
              <a:ext cx="1955960" cy="397986"/>
            </a:xfrm>
            <a:prstGeom prst="rect">
              <a:avLst/>
            </a:prstGeom>
            <a:solidFill>
              <a:srgbClr val="8080AC"/>
            </a:solidFill>
            <a:ln cap="flat" cmpd="sng" w="12700">
              <a:solidFill>
                <a:srgbClr val="8080A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5"/>
            <p:cNvSpPr txBox="1"/>
            <p:nvPr/>
          </p:nvSpPr>
          <p:spPr>
            <a:xfrm>
              <a:off x="2611196" y="1790937"/>
              <a:ext cx="1955960" cy="397986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102875" lIns="102875" spcFirstLastPara="1" rIns="102875" wrap="square" tIns="102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Gill Sans"/>
                <a:buNone/>
              </a:pPr>
              <a:r>
                <a:rPr lang="en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Clustering</a:t>
              </a:r>
              <a:endParaRPr sz="1100"/>
            </a:p>
          </p:txBody>
        </p:sp>
        <p:sp>
          <p:nvSpPr>
            <p:cNvPr id="346" name="Google Shape;346;p35"/>
            <p:cNvSpPr/>
            <p:nvPr/>
          </p:nvSpPr>
          <p:spPr>
            <a:xfrm>
              <a:off x="1959209" y="2586910"/>
              <a:ext cx="3259934" cy="13929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5"/>
            <p:cNvSpPr txBox="1"/>
            <p:nvPr/>
          </p:nvSpPr>
          <p:spPr>
            <a:xfrm>
              <a:off x="1959209" y="2586910"/>
              <a:ext cx="3259934" cy="139295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t" bIns="0" lIns="0" spcFirstLastPara="1" rIns="0" wrap="square" tIns="102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Noto Sans Symbols"/>
                <a:buNone/>
              </a:pPr>
              <a:r>
                <a:rPr lang="en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Advanced Analytics</a:t>
              </a:r>
              <a:endParaRPr sz="1100"/>
            </a:p>
          </p:txBody>
        </p:sp>
        <p:cxnSp>
          <p:nvCxnSpPr>
            <p:cNvPr id="348" name="Google Shape;348;p35"/>
            <p:cNvCxnSpPr/>
            <p:nvPr/>
          </p:nvCxnSpPr>
          <p:spPr>
            <a:xfrm>
              <a:off x="3589176" y="2188924"/>
              <a:ext cx="0" cy="318388"/>
            </a:xfrm>
            <a:prstGeom prst="straightConnector1">
              <a:avLst/>
            </a:prstGeom>
            <a:noFill/>
            <a:ln cap="flat" cmpd="sng" w="9525">
              <a:solidFill>
                <a:srgbClr val="8080AC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349" name="Google Shape;349;p35"/>
            <p:cNvSpPr/>
            <p:nvPr/>
          </p:nvSpPr>
          <p:spPr>
            <a:xfrm>
              <a:off x="3549378" y="2507313"/>
              <a:ext cx="79597" cy="79597"/>
            </a:xfrm>
            <a:prstGeom prst="ellipse">
              <a:avLst/>
            </a:prstGeom>
            <a:solidFill>
              <a:srgbClr val="8080A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5"/>
            <p:cNvSpPr/>
            <p:nvPr/>
          </p:nvSpPr>
          <p:spPr>
            <a:xfrm>
              <a:off x="4567157" y="1790937"/>
              <a:ext cx="1955960" cy="397986"/>
            </a:xfrm>
            <a:prstGeom prst="rect">
              <a:avLst/>
            </a:prstGeom>
            <a:solidFill>
              <a:srgbClr val="605E99"/>
            </a:solidFill>
            <a:ln cap="flat" cmpd="sng" w="12700">
              <a:solidFill>
                <a:srgbClr val="605E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5"/>
            <p:cNvSpPr txBox="1"/>
            <p:nvPr/>
          </p:nvSpPr>
          <p:spPr>
            <a:xfrm>
              <a:off x="4567157" y="1790937"/>
              <a:ext cx="1955960" cy="397986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102875" lIns="102875" spcFirstLastPara="1" rIns="102875" wrap="square" tIns="102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Gill Sans"/>
                <a:buNone/>
              </a:pPr>
              <a:r>
                <a:rPr lang="en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Benchmarking</a:t>
              </a:r>
              <a:endParaRPr sz="1100"/>
            </a:p>
          </p:txBody>
        </p:sp>
        <p:sp>
          <p:nvSpPr>
            <p:cNvPr id="352" name="Google Shape;352;p35"/>
            <p:cNvSpPr/>
            <p:nvPr/>
          </p:nvSpPr>
          <p:spPr>
            <a:xfrm>
              <a:off x="3915170" y="0"/>
              <a:ext cx="3259934" cy="13929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5"/>
            <p:cNvSpPr txBox="1"/>
            <p:nvPr/>
          </p:nvSpPr>
          <p:spPr>
            <a:xfrm>
              <a:off x="3915170" y="0"/>
              <a:ext cx="3259934" cy="139295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b" bIns="102875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Noto Sans Symbols"/>
                <a:buNone/>
              </a:pPr>
              <a:r>
                <a:rPr lang="en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Baseline Development</a:t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354" name="Google Shape;354;p35"/>
            <p:cNvCxnSpPr/>
            <p:nvPr/>
          </p:nvCxnSpPr>
          <p:spPr>
            <a:xfrm>
              <a:off x="5545137" y="1472548"/>
              <a:ext cx="0" cy="318388"/>
            </a:xfrm>
            <a:prstGeom prst="straightConnector1">
              <a:avLst/>
            </a:prstGeom>
            <a:noFill/>
            <a:ln cap="flat" cmpd="sng" w="9525">
              <a:solidFill>
                <a:srgbClr val="605E99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355" name="Google Shape;355;p35"/>
            <p:cNvSpPr/>
            <p:nvPr/>
          </p:nvSpPr>
          <p:spPr>
            <a:xfrm>
              <a:off x="5505338" y="1392951"/>
              <a:ext cx="79597" cy="79597"/>
            </a:xfrm>
            <a:prstGeom prst="ellipse">
              <a:avLst/>
            </a:prstGeom>
            <a:solidFill>
              <a:srgbClr val="605E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5"/>
            <p:cNvSpPr/>
            <p:nvPr/>
          </p:nvSpPr>
          <p:spPr>
            <a:xfrm>
              <a:off x="6523117" y="1790937"/>
              <a:ext cx="1955960" cy="397986"/>
            </a:xfrm>
            <a:prstGeom prst="rect">
              <a:avLst/>
            </a:prstGeom>
            <a:solidFill>
              <a:srgbClr val="4B477A"/>
            </a:solidFill>
            <a:ln cap="flat" cmpd="sng" w="12700">
              <a:solidFill>
                <a:srgbClr val="4B477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5"/>
            <p:cNvSpPr txBox="1"/>
            <p:nvPr/>
          </p:nvSpPr>
          <p:spPr>
            <a:xfrm>
              <a:off x="6523117" y="1790937"/>
              <a:ext cx="1955960" cy="397986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102875" lIns="102875" spcFirstLastPara="1" rIns="102875" wrap="square" tIns="102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Noto Sans Symbols"/>
                <a:buNone/>
              </a:pPr>
              <a:r>
                <a:rPr lang="en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SOTA</a:t>
              </a:r>
              <a:endParaRPr sz="1100"/>
            </a:p>
          </p:txBody>
        </p:sp>
        <p:sp>
          <p:nvSpPr>
            <p:cNvPr id="358" name="Google Shape;358;p35"/>
            <p:cNvSpPr/>
            <p:nvPr/>
          </p:nvSpPr>
          <p:spPr>
            <a:xfrm>
              <a:off x="5871130" y="2586910"/>
              <a:ext cx="3259934" cy="13929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5"/>
            <p:cNvSpPr txBox="1"/>
            <p:nvPr/>
          </p:nvSpPr>
          <p:spPr>
            <a:xfrm>
              <a:off x="5871130" y="2586910"/>
              <a:ext cx="3259934" cy="139295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t" bIns="0" lIns="0" spcFirstLastPara="1" rIns="0" wrap="square" tIns="102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Noto Sans Symbols"/>
                <a:buNone/>
              </a:pPr>
              <a:r>
                <a:rPr lang="en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Model Specialization</a:t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360" name="Google Shape;360;p35"/>
            <p:cNvCxnSpPr/>
            <p:nvPr/>
          </p:nvCxnSpPr>
          <p:spPr>
            <a:xfrm>
              <a:off x="7501098" y="2188924"/>
              <a:ext cx="0" cy="318388"/>
            </a:xfrm>
            <a:prstGeom prst="straightConnector1">
              <a:avLst/>
            </a:prstGeom>
            <a:noFill/>
            <a:ln cap="flat" cmpd="sng" w="9525">
              <a:solidFill>
                <a:srgbClr val="4B477A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361" name="Google Shape;361;p35"/>
            <p:cNvSpPr/>
            <p:nvPr/>
          </p:nvSpPr>
          <p:spPr>
            <a:xfrm>
              <a:off x="7461299" y="2507313"/>
              <a:ext cx="79597" cy="79597"/>
            </a:xfrm>
            <a:prstGeom prst="ellipse">
              <a:avLst/>
            </a:prstGeom>
            <a:solidFill>
              <a:srgbClr val="4B477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5"/>
            <p:cNvSpPr/>
            <p:nvPr/>
          </p:nvSpPr>
          <p:spPr>
            <a:xfrm rot="5400000">
              <a:off x="9258065" y="1011950"/>
              <a:ext cx="397986" cy="195596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36325A"/>
            </a:solidFill>
            <a:ln cap="flat" cmpd="sng" w="12700">
              <a:solidFill>
                <a:srgbClr val="36325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5"/>
            <p:cNvSpPr txBox="1"/>
            <p:nvPr/>
          </p:nvSpPr>
          <p:spPr>
            <a:xfrm>
              <a:off x="8479078" y="1810365"/>
              <a:ext cx="1936532" cy="359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102875" lIns="102875" spcFirstLastPara="1" rIns="102875" wrap="square" tIns="102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Noto Sans Symbols"/>
                <a:buNone/>
              </a:pPr>
              <a:r>
                <a:rPr lang="en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Deployment</a:t>
              </a:r>
              <a:endParaRPr sz="1100"/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7827091" y="0"/>
              <a:ext cx="3259934" cy="13929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5"/>
            <p:cNvSpPr txBox="1"/>
            <p:nvPr/>
          </p:nvSpPr>
          <p:spPr>
            <a:xfrm>
              <a:off x="7827091" y="0"/>
              <a:ext cx="3259934" cy="139295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b" bIns="102875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Noto Sans Symbols"/>
                <a:buNone/>
              </a:pPr>
              <a:r>
                <a:rPr lang="en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Agentic Integration</a:t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366" name="Google Shape;366;p35"/>
            <p:cNvCxnSpPr/>
            <p:nvPr/>
          </p:nvCxnSpPr>
          <p:spPr>
            <a:xfrm>
              <a:off x="9457058" y="1472548"/>
              <a:ext cx="0" cy="318388"/>
            </a:xfrm>
            <a:prstGeom prst="straightConnector1">
              <a:avLst/>
            </a:prstGeom>
            <a:noFill/>
            <a:ln cap="flat" cmpd="sng" w="9525">
              <a:solidFill>
                <a:srgbClr val="36325A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367" name="Google Shape;367;p35"/>
            <p:cNvSpPr/>
            <p:nvPr/>
          </p:nvSpPr>
          <p:spPr>
            <a:xfrm>
              <a:off x="9417260" y="1392951"/>
              <a:ext cx="79597" cy="79597"/>
            </a:xfrm>
            <a:prstGeom prst="ellipse">
              <a:avLst/>
            </a:prstGeom>
            <a:solidFill>
              <a:srgbClr val="36325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8" name="Google Shape;368;p35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</p:txBody>
      </p:sp>
      <p:sp>
        <p:nvSpPr>
          <p:cNvPr id="369" name="Google Shape;369;p35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>
            <p:ph type="title"/>
          </p:nvPr>
        </p:nvSpPr>
        <p:spPr>
          <a:xfrm>
            <a:off x="413146" y="411956"/>
            <a:ext cx="83187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375" name="Google Shape;375;p36"/>
          <p:cNvSpPr txBox="1"/>
          <p:nvPr>
            <p:ph idx="1" type="body"/>
          </p:nvPr>
        </p:nvSpPr>
        <p:spPr>
          <a:xfrm>
            <a:off x="413150" y="1140626"/>
            <a:ext cx="8317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n" sz="1700"/>
              <a:t>Dataset:</a:t>
            </a:r>
            <a:r>
              <a:rPr lang="en" sz="1700"/>
              <a:t> UCI Electricity Load Diagrams (2011-2014) </a:t>
            </a:r>
            <a:endParaRPr sz="1700"/>
          </a:p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700"/>
          </a:p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n" sz="1700"/>
              <a:t>Resampling &amp; Resampling:</a:t>
            </a:r>
            <a:r>
              <a:rPr lang="en" sz="1700"/>
              <a:t> </a:t>
            </a:r>
            <a:r>
              <a:rPr lang="en" sz="1700"/>
              <a:t>Converted 15-minute telemetry into 1-hour intervals (26,304 total rows) to focus on macro daily/weekly load cycles and reduce high-frequency noise.</a:t>
            </a:r>
            <a:endParaRPr sz="1700"/>
          </a:p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700"/>
          </a:p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n" sz="1700"/>
              <a:t>Normalization:</a:t>
            </a:r>
            <a:r>
              <a:rPr lang="en" sz="1700"/>
              <a:t> We applied StandardScaler to all 370 individual time series aggregated into 3 representative cluster profiles to ensure stable convergence across diverse client scales (residential versus commercial)</a:t>
            </a:r>
            <a:endParaRPr sz="1700"/>
          </a:p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700"/>
          </a:p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n" sz="1700"/>
              <a:t>Splitting:</a:t>
            </a:r>
            <a:r>
              <a:rPr lang="en" sz="1700"/>
              <a:t> </a:t>
            </a:r>
            <a:r>
              <a:rPr lang="en" sz="1700"/>
              <a:t>Excluded 2011 due to data sparsity. Utilized a chronological split (Train: 2012–2013; Test: 2014) to rigorously validate the system's predictive performance on unseen future data.</a:t>
            </a:r>
            <a:endParaRPr sz="1700"/>
          </a:p>
        </p:txBody>
      </p:sp>
      <p:sp>
        <p:nvSpPr>
          <p:cNvPr id="376" name="Google Shape;376;p36"/>
          <p:cNvSpPr txBox="1"/>
          <p:nvPr>
            <p:ph idx="10" type="dt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</p:txBody>
      </p:sp>
      <p:sp>
        <p:nvSpPr>
          <p:cNvPr id="377" name="Google Shape;377;p36"/>
          <p:cNvSpPr txBox="1"/>
          <p:nvPr>
            <p:ph idx="12" type="sldNum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"/>
          <p:cNvSpPr txBox="1"/>
          <p:nvPr>
            <p:ph type="title"/>
          </p:nvPr>
        </p:nvSpPr>
        <p:spPr>
          <a:xfrm>
            <a:off x="412650" y="2072250"/>
            <a:ext cx="8318700" cy="99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Models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8"/>
          <p:cNvSpPr txBox="1"/>
          <p:nvPr>
            <p:ph idx="1" type="body"/>
          </p:nvPr>
        </p:nvSpPr>
        <p:spPr>
          <a:xfrm>
            <a:off x="413150" y="1140626"/>
            <a:ext cx="8317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n" sz="1700"/>
              <a:t>Logic:</a:t>
            </a:r>
            <a:r>
              <a:rPr lang="en" sz="1700"/>
              <a:t> Many of the future advanced and/or transformer model that we will experiment with uses channel-mixing: taking all variables a one timestamp and treating as one variable</a:t>
            </a:r>
            <a:endParaRPr sz="1700"/>
          </a:p>
          <a:p>
            <a:pPr indent="-336550" lvl="0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370 clients → 1 all-encompassing client (aka 1 model for all 370 clients)</a:t>
            </a:r>
            <a:endParaRPr sz="1700"/>
          </a:p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700"/>
          </a:p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n" sz="1700"/>
              <a:t>Models:</a:t>
            </a:r>
            <a:r>
              <a:rPr lang="en" sz="1700"/>
              <a:t> We wanted to experiment with some techniques we covered in class </a:t>
            </a:r>
            <a:endParaRPr sz="1700"/>
          </a:p>
          <a:p>
            <a:pPr indent="-336550" lvl="0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ARIMA</a:t>
            </a:r>
            <a:endParaRPr sz="1700"/>
          </a:p>
          <a:p>
            <a:pPr indent="-336550" lvl="1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Tried the most basic model with (p,d,q)=(1,1,1)</a:t>
            </a:r>
            <a:endParaRPr sz="1700"/>
          </a:p>
          <a:p>
            <a:pPr indent="-336550" lvl="1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Used auto_arima function to step search with p=1~5, q=1~5, d=0~1</a:t>
            </a:r>
            <a:endParaRPr sz="1700"/>
          </a:p>
          <a:p>
            <a:pPr indent="-336550" lvl="0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SARIMA</a:t>
            </a:r>
            <a:endParaRPr sz="1700"/>
          </a:p>
          <a:p>
            <a:pPr indent="-336550" lvl="1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3 different parameter settings:</a:t>
            </a:r>
            <a:endParaRPr sz="1700"/>
          </a:p>
        </p:txBody>
      </p:sp>
      <p:sp>
        <p:nvSpPr>
          <p:cNvPr id="388" name="Google Shape;388;p38"/>
          <p:cNvSpPr txBox="1"/>
          <p:nvPr>
            <p:ph type="title"/>
          </p:nvPr>
        </p:nvSpPr>
        <p:spPr>
          <a:xfrm>
            <a:off x="413146" y="411956"/>
            <a:ext cx="83187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/>
              <a:t>Baseline Models</a:t>
            </a:r>
            <a:endParaRPr/>
          </a:p>
        </p:txBody>
      </p:sp>
      <p:sp>
        <p:nvSpPr>
          <p:cNvPr id="389" name="Google Shape;389;p38"/>
          <p:cNvSpPr txBox="1"/>
          <p:nvPr>
            <p:ph idx="10" type="dt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</p:txBody>
      </p:sp>
      <p:sp>
        <p:nvSpPr>
          <p:cNvPr id="390" name="Google Shape;390;p38"/>
          <p:cNvSpPr txBox="1"/>
          <p:nvPr>
            <p:ph idx="12" type="sldNum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1" name="Google Shape;39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8475" y="4027175"/>
            <a:ext cx="5510470" cy="85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p39"/>
          <p:cNvGrpSpPr/>
          <p:nvPr/>
        </p:nvGrpSpPr>
        <p:grpSpPr>
          <a:xfrm>
            <a:off x="7759187" y="1374491"/>
            <a:ext cx="1243226" cy="1243226"/>
            <a:chOff x="10111337" y="2146598"/>
            <a:chExt cx="1657635" cy="1657635"/>
          </a:xfrm>
        </p:grpSpPr>
        <p:sp>
          <p:nvSpPr>
            <p:cNvPr id="398" name="Google Shape;398;p39"/>
            <p:cNvSpPr/>
            <p:nvPr/>
          </p:nvSpPr>
          <p:spPr>
            <a:xfrm rot="8100000">
              <a:off x="10399854" y="2343591"/>
              <a:ext cx="1080601" cy="1263649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99" name="Google Shape;399;p39"/>
            <p:cNvSpPr/>
            <p:nvPr/>
          </p:nvSpPr>
          <p:spPr>
            <a:xfrm rot="-8100000">
              <a:off x="10415002" y="2179669"/>
              <a:ext cx="540088" cy="1080176"/>
            </a:xfrm>
            <a:prstGeom prst="ellipse">
              <a:avLst/>
            </a:prstGeom>
            <a:gradFill>
              <a:gsLst>
                <a:gs pos="0">
                  <a:srgbClr val="453E75">
                    <a:alpha val="32941"/>
                  </a:srgbClr>
                </a:gs>
                <a:gs pos="100000">
                  <a:srgbClr val="59EFC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400" name="Google Shape;400;p39"/>
          <p:cNvSpPr txBox="1"/>
          <p:nvPr>
            <p:ph type="title"/>
          </p:nvPr>
        </p:nvSpPr>
        <p:spPr>
          <a:xfrm>
            <a:off x="413146" y="411956"/>
            <a:ext cx="83232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401" name="Google Shape;401;p39"/>
          <p:cNvSpPr txBox="1"/>
          <p:nvPr>
            <p:ph idx="1" type="body"/>
          </p:nvPr>
        </p:nvSpPr>
        <p:spPr>
          <a:xfrm>
            <a:off x="413150" y="1298525"/>
            <a:ext cx="3687000" cy="30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800"/>
              <a:t>ARIMA failed to capture the seasonality as expected, but stayed closed to the true values, resulting in a smaller MSE, MAE, and RMSE</a:t>
            </a:r>
            <a:endParaRPr sz="18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800"/>
              <a:t>SARIMA shows the general seasonal pattern of the averaged data of 370 clients, but deviated from the true value as the time progressed</a:t>
            </a:r>
            <a:endParaRPr sz="18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800"/>
          </a:p>
        </p:txBody>
      </p:sp>
      <p:sp>
        <p:nvSpPr>
          <p:cNvPr id="402" name="Google Shape;402;p39"/>
          <p:cNvSpPr txBox="1"/>
          <p:nvPr>
            <p:ph idx="10" type="dt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</p:txBody>
      </p:sp>
      <p:sp>
        <p:nvSpPr>
          <p:cNvPr id="403" name="Google Shape;403;p39"/>
          <p:cNvSpPr txBox="1"/>
          <p:nvPr>
            <p:ph idx="12" type="sldNum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4" name="Google Shape;404;p39"/>
          <p:cNvSpPr/>
          <p:nvPr/>
        </p:nvSpPr>
        <p:spPr>
          <a:xfrm>
            <a:off x="3221831" y="0"/>
            <a:ext cx="270000" cy="205978"/>
          </a:xfrm>
          <a:custGeom>
            <a:rect b="b" l="l" r="r" t="t"/>
            <a:pathLst>
              <a:path extrusionOk="0" h="274638" w="36000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05" name="Google Shape;40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963" y="1115750"/>
            <a:ext cx="4742025" cy="1760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0175" y="3195137"/>
            <a:ext cx="4815592" cy="156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 txBox="1"/>
          <p:nvPr>
            <p:ph type="title"/>
          </p:nvPr>
        </p:nvSpPr>
        <p:spPr>
          <a:xfrm>
            <a:off x="412650" y="2072250"/>
            <a:ext cx="8318700" cy="99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BasisFormer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"/>
          <p:cNvSpPr txBox="1"/>
          <p:nvPr>
            <p:ph type="title"/>
          </p:nvPr>
        </p:nvSpPr>
        <p:spPr>
          <a:xfrm>
            <a:off x="413146" y="411956"/>
            <a:ext cx="83187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/>
              <a:t>Architecture -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/>
              <a:t>BCAB Block</a:t>
            </a:r>
            <a:endParaRPr/>
          </a:p>
        </p:txBody>
      </p:sp>
      <p:sp>
        <p:nvSpPr>
          <p:cNvPr id="417" name="Google Shape;417;p41"/>
          <p:cNvSpPr txBox="1"/>
          <p:nvPr>
            <p:ph idx="1" type="body"/>
          </p:nvPr>
        </p:nvSpPr>
        <p:spPr>
          <a:xfrm>
            <a:off x="413148" y="1584900"/>
            <a:ext cx="3375300" cy="29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n"/>
              <a:t>Basis Module</a:t>
            </a:r>
            <a:endParaRPr b="1"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 self-supervised module that learns the library of fundamental patterns (Bases) directly from the 370-client historical data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Coefficient Estimation</a:t>
            </a:r>
            <a:endParaRPr b="1"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Instead of predicting values, the model calculates “coefficients” to determine how to mix the learned bases to match the 96-hour input window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1"/>
          <p:cNvSpPr txBox="1"/>
          <p:nvPr>
            <p:ph idx="10" type="dt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</p:txBody>
      </p:sp>
      <p:sp>
        <p:nvSpPr>
          <p:cNvPr id="419" name="Google Shape;419;p41"/>
          <p:cNvSpPr txBox="1"/>
          <p:nvPr>
            <p:ph idx="12" type="sldNum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0" name="Google Shape;420;p41" title="Screenshot 2026-02-25 at 11.16.4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1750" y="256500"/>
            <a:ext cx="5112426" cy="231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1"/>
          <p:cNvSpPr txBox="1"/>
          <p:nvPr/>
        </p:nvSpPr>
        <p:spPr>
          <a:xfrm>
            <a:off x="4074813" y="2924700"/>
            <a:ext cx="4506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Forecast Module:</a:t>
            </a:r>
            <a:endParaRPr b="1" sz="15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ill Sans"/>
              <a:buChar char="-"/>
            </a:pPr>
            <a:r>
              <a:rPr lang="en" sz="15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Utilizes the learned bases and coefficients learned in the previous step to create an accurate forecast prediction perfect for the periodicity of the Electricity data</a:t>
            </a:r>
            <a:endParaRPr sz="15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2"/>
          <p:cNvSpPr txBox="1"/>
          <p:nvPr>
            <p:ph type="title"/>
          </p:nvPr>
        </p:nvSpPr>
        <p:spPr>
          <a:xfrm>
            <a:off x="196171" y="284556"/>
            <a:ext cx="83187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/>
              <a:t>BasisFormer Results</a:t>
            </a:r>
            <a:endParaRPr/>
          </a:p>
        </p:txBody>
      </p:sp>
      <p:sp>
        <p:nvSpPr>
          <p:cNvPr id="427" name="Google Shape;427;p42"/>
          <p:cNvSpPr txBox="1"/>
          <p:nvPr>
            <p:ph idx="1" type="body"/>
          </p:nvPr>
        </p:nvSpPr>
        <p:spPr>
          <a:xfrm>
            <a:off x="196175" y="1221900"/>
            <a:ext cx="3866100" cy="29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n"/>
              <a:t>Optimizer:</a:t>
            </a:r>
            <a:r>
              <a:rPr lang="en"/>
              <a:t> Adabelief, which combines speed of Adam with generalization from SGD to stabilize the basis acquisition process </a:t>
            </a:r>
            <a:endParaRPr/>
          </a:p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/>
          </a:p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n"/>
              <a:t>Parameters:</a:t>
            </a:r>
            <a:r>
              <a:rPr lang="en"/>
              <a:t> 594,392 parameters with 10 epochs</a:t>
            </a:r>
            <a:endParaRPr/>
          </a:p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/>
          </a:p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n"/>
              <a:t>Look-back window:</a:t>
            </a:r>
            <a:r>
              <a:rPr lang="en"/>
              <a:t> 96 hour (4 days) history used to predict a 24 hour future window </a:t>
            </a:r>
            <a:endParaRPr/>
          </a:p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/>
          </a:p>
          <a:p>
            <a:pPr indent="-762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n"/>
              <a:t>Loss: </a:t>
            </a:r>
            <a:r>
              <a:rPr lang="en"/>
              <a:t>Weighted sum of Prediction loss (MSE), InfoNCE Loss (representation consistency) and Smoothness Loss (erratic forecasts) </a:t>
            </a:r>
            <a:endParaRPr/>
          </a:p>
        </p:txBody>
      </p:sp>
      <p:sp>
        <p:nvSpPr>
          <p:cNvPr id="428" name="Google Shape;428;p42"/>
          <p:cNvSpPr txBox="1"/>
          <p:nvPr>
            <p:ph idx="10" type="dt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2"/>
          <p:cNvSpPr txBox="1"/>
          <p:nvPr>
            <p:ph idx="12" type="sldNum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0" name="Google Shape;43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813" y="1283556"/>
            <a:ext cx="4776924" cy="3061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3"/>
          <p:cNvSpPr txBox="1"/>
          <p:nvPr>
            <p:ph type="title"/>
          </p:nvPr>
        </p:nvSpPr>
        <p:spPr>
          <a:xfrm>
            <a:off x="413146" y="411956"/>
            <a:ext cx="83187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/>
              <a:t>Simulated Results</a:t>
            </a:r>
            <a:endParaRPr/>
          </a:p>
        </p:txBody>
      </p:sp>
      <p:sp>
        <p:nvSpPr>
          <p:cNvPr id="436" name="Google Shape;436;p43"/>
          <p:cNvSpPr txBox="1"/>
          <p:nvPr>
            <p:ph idx="10" type="dt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</p:txBody>
      </p:sp>
      <p:sp>
        <p:nvSpPr>
          <p:cNvPr id="437" name="Google Shape;437;p43"/>
          <p:cNvSpPr txBox="1"/>
          <p:nvPr>
            <p:ph idx="12" type="sldNum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8" name="Google Shape;438;p43" title="Screenshot 2026-02-25 at 11.20.3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813" y="1232531"/>
            <a:ext cx="5874387" cy="316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/>
          <p:cNvSpPr txBox="1"/>
          <p:nvPr>
            <p:ph type="title"/>
          </p:nvPr>
        </p:nvSpPr>
        <p:spPr>
          <a:xfrm>
            <a:off x="413146" y="411956"/>
            <a:ext cx="83187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/>
              <a:t>Model Comparisons - MAPE scores</a:t>
            </a:r>
            <a:endParaRPr/>
          </a:p>
        </p:txBody>
      </p:sp>
      <p:graphicFrame>
        <p:nvGraphicFramePr>
          <p:cNvPr id="444" name="Google Shape;444;p44"/>
          <p:cNvGraphicFramePr/>
          <p:nvPr/>
        </p:nvGraphicFramePr>
        <p:xfrm>
          <a:off x="413147" y="15847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{49DFBAEF-82E6-471E-BA7E-3DF5E59CE3DA}</a:tableStyleId>
              </a:tblPr>
              <a:tblGrid>
                <a:gridCol w="1404950"/>
                <a:gridCol w="999300"/>
                <a:gridCol w="1202125"/>
                <a:gridCol w="1202125"/>
                <a:gridCol w="1202125"/>
                <a:gridCol w="1202125"/>
                <a:gridCol w="1202125"/>
              </a:tblGrid>
              <a:tr h="3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Seasonal Naive</a:t>
                      </a:r>
                      <a:endParaRPr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SARIMA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Prophet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Basis-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Former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Gradient Boost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PatchTST</a:t>
                      </a:r>
                      <a:endParaRPr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Cluster 0 (Residential)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6.41%</a:t>
                      </a:r>
                      <a:endParaRPr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29.15%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50.26%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171%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4.59%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4.49%</a:t>
                      </a:r>
                      <a:endParaRPr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Cluster 1 (Industrial)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11.16%</a:t>
                      </a:r>
                      <a:endParaRPr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45.34%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258.94%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107%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8.63%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12.18%</a:t>
                      </a:r>
                      <a:endParaRPr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Cluster 2 (Mix-use)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15.11%</a:t>
                      </a:r>
                      <a:endParaRPr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136.6%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42.64%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136%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14.59%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13.60%</a:t>
                      </a:r>
                      <a:endParaRPr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Cluster 3 (Critical Infrastructure)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117.41%</a:t>
                      </a:r>
                      <a:endParaRPr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1227.37%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121.18%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432%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110.73%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110.17%</a:t>
                      </a:r>
                      <a:endParaRPr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5" name="Google Shape;445;p44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</p:txBody>
      </p:sp>
      <p:sp>
        <p:nvSpPr>
          <p:cNvPr id="446" name="Google Shape;446;p44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7" name="Google Shape;447;p44"/>
          <p:cNvSpPr txBox="1"/>
          <p:nvPr/>
        </p:nvSpPr>
        <p:spPr>
          <a:xfrm>
            <a:off x="413238" y="4274600"/>
            <a:ext cx="841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6200" lvl="0" marL="17780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Please see technical report for more detailed information on specific models featured here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"/>
          <p:cNvSpPr txBox="1"/>
          <p:nvPr>
            <p:ph type="title"/>
          </p:nvPr>
        </p:nvSpPr>
        <p:spPr>
          <a:xfrm>
            <a:off x="413146" y="411956"/>
            <a:ext cx="83232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 sz="3500"/>
              <a:t>Challenges &amp; Limitations</a:t>
            </a:r>
            <a:endParaRPr sz="3500"/>
          </a:p>
        </p:txBody>
      </p:sp>
      <p:sp>
        <p:nvSpPr>
          <p:cNvPr id="453" name="Google Shape;453;p45"/>
          <p:cNvSpPr txBox="1"/>
          <p:nvPr>
            <p:ph idx="1" type="body"/>
          </p:nvPr>
        </p:nvSpPr>
        <p:spPr>
          <a:xfrm>
            <a:off x="413148" y="1298531"/>
            <a:ext cx="26730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Data &amp; Metric Sensitivity</a:t>
            </a:r>
            <a:endParaRPr/>
          </a:p>
        </p:txBody>
      </p:sp>
      <p:sp>
        <p:nvSpPr>
          <p:cNvPr id="454" name="Google Shape;454;p45"/>
          <p:cNvSpPr txBox="1"/>
          <p:nvPr>
            <p:ph idx="2" type="body"/>
          </p:nvPr>
        </p:nvSpPr>
        <p:spPr>
          <a:xfrm>
            <a:off x="419607" y="1824228"/>
            <a:ext cx="2673000" cy="26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b="1" lang="en" sz="1200"/>
              <a:t>The Challenge: </a:t>
            </a:r>
            <a:r>
              <a:rPr lang="en" sz="1200"/>
              <a:t>High percentage errors (up to 1500%) were observed in Region 4 (Q4 2014).</a:t>
            </a:r>
            <a:endParaRPr sz="1200"/>
          </a:p>
          <a:p>
            <a:pPr indent="-17780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b="1" lang="en" sz="1200"/>
              <a:t>The Insight: </a:t>
            </a:r>
            <a:r>
              <a:rPr lang="en" sz="1200"/>
              <a:t>This was largely a mathematical artifact of the MAPE metric. When actual consumption drops near zero (standby power), even a physically tiny prediction error (e.g., 0.5 kWh) results in a massive percentage spike.</a:t>
            </a:r>
            <a:endParaRPr sz="1200"/>
          </a:p>
          <a:p>
            <a:pPr indent="-17780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b="1" lang="en" sz="1200"/>
              <a:t>The Limitation: </a:t>
            </a:r>
            <a:r>
              <a:rPr lang="en" sz="1200"/>
              <a:t>Our current models are "univariate," meaning they only see past load data and lack the context to know why a consumer suddenly went on vacation or reduced usage.</a:t>
            </a:r>
            <a:endParaRPr sz="1200"/>
          </a:p>
        </p:txBody>
      </p:sp>
      <p:sp>
        <p:nvSpPr>
          <p:cNvPr id="455" name="Google Shape;455;p45"/>
          <p:cNvSpPr txBox="1"/>
          <p:nvPr>
            <p:ph idx="3" type="body"/>
          </p:nvPr>
        </p:nvSpPr>
        <p:spPr>
          <a:xfrm>
            <a:off x="3256180" y="1298531"/>
            <a:ext cx="26745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-1778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Model Generalization</a:t>
            </a:r>
            <a:endParaRPr/>
          </a:p>
        </p:txBody>
      </p:sp>
      <p:sp>
        <p:nvSpPr>
          <p:cNvPr id="456" name="Google Shape;456;p45"/>
          <p:cNvSpPr txBox="1"/>
          <p:nvPr>
            <p:ph idx="4" type="body"/>
          </p:nvPr>
        </p:nvSpPr>
        <p:spPr>
          <a:xfrm>
            <a:off x="3256180" y="1820528"/>
            <a:ext cx="2631600" cy="26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8117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5"/>
              <a:buChar char="•"/>
            </a:pPr>
            <a:r>
              <a:rPr b="1" lang="en" sz="1205"/>
              <a:t>The Challenge: </a:t>
            </a:r>
            <a:r>
              <a:rPr lang="en" sz="1205"/>
              <a:t>All models (BasisFormer, Prophet, PatchTST) showed increased variance during the November–December holiday season.</a:t>
            </a:r>
            <a:endParaRPr sz="1205"/>
          </a:p>
          <a:p>
            <a:pPr indent="-178117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5"/>
              <a:buChar char="•"/>
            </a:pPr>
            <a:r>
              <a:rPr b="1" lang="en" sz="1205"/>
              <a:t>The Insight: </a:t>
            </a:r>
            <a:r>
              <a:rPr lang="en" sz="1205"/>
              <a:t>Electricity consumption in the Portuguese grid is highly sensitive to exogenous variables like sudden temperature drops or public holiday shifts which are not captured in the raw timestamp.</a:t>
            </a:r>
            <a:endParaRPr sz="1205"/>
          </a:p>
          <a:p>
            <a:pPr indent="-178117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5"/>
              <a:buChar char="•"/>
            </a:pPr>
            <a:r>
              <a:rPr b="1" lang="en" sz="1205"/>
              <a:t>The Limitation: </a:t>
            </a:r>
            <a:r>
              <a:rPr lang="en" sz="1205"/>
              <a:t>Without Weather Data (Temperature/Humidity) or a Holiday Calendar, the models treat these spikes as "noise" rather than predictable patterns.</a:t>
            </a:r>
            <a:endParaRPr sz="1205"/>
          </a:p>
        </p:txBody>
      </p:sp>
      <p:sp>
        <p:nvSpPr>
          <p:cNvPr id="457" name="Google Shape;457;p45"/>
          <p:cNvSpPr txBox="1"/>
          <p:nvPr>
            <p:ph idx="5" type="body"/>
          </p:nvPr>
        </p:nvSpPr>
        <p:spPr>
          <a:xfrm>
            <a:off x="6104744" y="1298531"/>
            <a:ext cx="26745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-1778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Future Roadmap</a:t>
            </a:r>
            <a:endParaRPr/>
          </a:p>
        </p:txBody>
      </p:sp>
      <p:sp>
        <p:nvSpPr>
          <p:cNvPr id="458" name="Google Shape;458;p45"/>
          <p:cNvSpPr txBox="1"/>
          <p:nvPr>
            <p:ph idx="6" type="body"/>
          </p:nvPr>
        </p:nvSpPr>
        <p:spPr>
          <a:xfrm>
            <a:off x="6104744" y="1820528"/>
            <a:ext cx="2631600" cy="26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8117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5"/>
              <a:buChar char="•"/>
            </a:pPr>
            <a:r>
              <a:rPr b="1" lang="en" sz="1205"/>
              <a:t>Feature Expansion: </a:t>
            </a:r>
            <a:r>
              <a:rPr lang="en" sz="1205"/>
              <a:t>Integrate Weather API data and national holiday flags to stabilize Q4 predictions. Incorporate more context for better predictions and more cohesive story.</a:t>
            </a:r>
            <a:endParaRPr sz="1205"/>
          </a:p>
          <a:p>
            <a:pPr indent="-178117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5"/>
              <a:buChar char="•"/>
            </a:pPr>
            <a:r>
              <a:rPr b="1" lang="en" sz="1205"/>
              <a:t>Hybrid Loss Functions: </a:t>
            </a:r>
            <a:r>
              <a:rPr lang="en" sz="1205"/>
              <a:t>Move toward a custom loss function that penalizes large absolute errors more than percentage errors during low-load windows.</a:t>
            </a:r>
            <a:endParaRPr sz="1205"/>
          </a:p>
          <a:p>
            <a:pPr indent="-178117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5"/>
              <a:buChar char="•"/>
            </a:pPr>
            <a:r>
              <a:rPr b="1" lang="en" sz="1205"/>
              <a:t>Agentic Feedback Loop: </a:t>
            </a:r>
            <a:r>
              <a:rPr lang="en" sz="1205"/>
              <a:t>Implement a "Human-in-the-Loop" trigger in n8n that flags forecasts with high uncertainty for manual review by the grid manager.</a:t>
            </a:r>
            <a:endParaRPr sz="1205"/>
          </a:p>
        </p:txBody>
      </p:sp>
      <p:sp>
        <p:nvSpPr>
          <p:cNvPr id="459" name="Google Shape;459;p45"/>
          <p:cNvSpPr txBox="1"/>
          <p:nvPr>
            <p:ph idx="10" type="dt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</p:txBody>
      </p:sp>
      <p:sp>
        <p:nvSpPr>
          <p:cNvPr id="460" name="Google Shape;460;p45"/>
          <p:cNvSpPr txBox="1"/>
          <p:nvPr>
            <p:ph idx="12" type="sldNum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6"/>
          <p:cNvSpPr txBox="1"/>
          <p:nvPr>
            <p:ph type="title"/>
          </p:nvPr>
        </p:nvSpPr>
        <p:spPr>
          <a:xfrm>
            <a:off x="413147" y="3381375"/>
            <a:ext cx="3375421" cy="117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/>
              <a:t>Summary</a:t>
            </a:r>
            <a:endParaRPr/>
          </a:p>
        </p:txBody>
      </p:sp>
      <p:pic>
        <p:nvPicPr>
          <p:cNvPr descr="Data Points Digital background" id="467" name="Google Shape;467;p4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28323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sp>
        <p:nvSpPr>
          <p:cNvPr id="468" name="Google Shape;468;p46"/>
          <p:cNvSpPr txBox="1"/>
          <p:nvPr>
            <p:ph idx="1" type="body"/>
          </p:nvPr>
        </p:nvSpPr>
        <p:spPr>
          <a:xfrm>
            <a:off x="2904850" y="3069025"/>
            <a:ext cx="5708100" cy="16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88"/>
              <a:buNone/>
            </a:pPr>
            <a:r>
              <a:rPr lang="en" sz="1400"/>
              <a:t>This project implements a sophisticated ensemble of forecasting models to deliver precise 24-hour load predictions tailored to diverse consumer behavioral clusters. By significantly reducing predictive error in high-volatility sectors, the framework generates tangible business value through optimized energy procurement and minimized operational costs for spinning reserves. These technical insights are finalized within a front-facing, agentic AI application that transforms complex telemetry into an interactive, natural-language decision-support tool for real-time grid management.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88"/>
              <a:buNone/>
            </a:pPr>
            <a:r>
              <a:t/>
            </a:r>
            <a:endParaRPr sz="1400"/>
          </a:p>
        </p:txBody>
      </p:sp>
      <p:sp>
        <p:nvSpPr>
          <p:cNvPr id="469" name="Google Shape;469;p46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</p:txBody>
      </p:sp>
      <p:sp>
        <p:nvSpPr>
          <p:cNvPr id="470" name="Google Shape;470;p46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7"/>
          <p:cNvSpPr txBox="1"/>
          <p:nvPr>
            <p:ph type="ctrTitle"/>
          </p:nvPr>
        </p:nvSpPr>
        <p:spPr>
          <a:xfrm>
            <a:off x="411480" y="411480"/>
            <a:ext cx="6211490" cy="939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en"/>
              <a:t>Team</a:t>
            </a:r>
            <a:endParaRPr/>
          </a:p>
        </p:txBody>
      </p:sp>
      <p:pic>
        <p:nvPicPr>
          <p:cNvPr id="477" name="Google Shape;477;p47" title="E969305_Ramond_Emily.jpe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562" l="0" r="0" t="7570"/>
          <a:stretch/>
        </p:blipFill>
        <p:spPr>
          <a:xfrm>
            <a:off x="809251" y="1493051"/>
            <a:ext cx="1366498" cy="1159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pic>
        <p:nvPicPr>
          <p:cNvPr descr="A lady smiling in the office" id="478" name="Google Shape;478;p47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8788" y="1493043"/>
            <a:ext cx="1268730" cy="10767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pic>
        <p:nvPicPr>
          <p:cNvPr descr="A lady in the office smiling at the camera&#10;" id="479" name="Google Shape;479;p47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6482" y="1495044"/>
            <a:ext cx="1268730" cy="10767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pic>
        <p:nvPicPr>
          <p:cNvPr descr="Smiling man with a beard" id="480" name="Google Shape;480;p47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14176" y="1493043"/>
            <a:ext cx="1268730" cy="10767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sp>
        <p:nvSpPr>
          <p:cNvPr id="481" name="Google Shape;481;p47"/>
          <p:cNvSpPr txBox="1"/>
          <p:nvPr>
            <p:ph idx="1" type="body"/>
          </p:nvPr>
        </p:nvSpPr>
        <p:spPr>
          <a:xfrm>
            <a:off x="809625" y="2836073"/>
            <a:ext cx="15753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Emily Ramond</a:t>
            </a:r>
            <a:endParaRPr/>
          </a:p>
        </p:txBody>
      </p:sp>
      <p:sp>
        <p:nvSpPr>
          <p:cNvPr id="482" name="Google Shape;482;p47"/>
          <p:cNvSpPr txBox="1"/>
          <p:nvPr>
            <p:ph idx="7" type="body"/>
          </p:nvPr>
        </p:nvSpPr>
        <p:spPr>
          <a:xfrm>
            <a:off x="2879363" y="2836069"/>
            <a:ext cx="12834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483" name="Google Shape;483;p47"/>
          <p:cNvSpPr txBox="1"/>
          <p:nvPr>
            <p:ph idx="8" type="body"/>
          </p:nvPr>
        </p:nvSpPr>
        <p:spPr>
          <a:xfrm>
            <a:off x="2878788" y="3174712"/>
            <a:ext cx="1283679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484" name="Google Shape;484;p47"/>
          <p:cNvSpPr txBox="1"/>
          <p:nvPr>
            <p:ph idx="9" type="body"/>
          </p:nvPr>
        </p:nvSpPr>
        <p:spPr>
          <a:xfrm>
            <a:off x="4997057" y="2836069"/>
            <a:ext cx="12834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485" name="Google Shape;485;p47"/>
          <p:cNvSpPr txBox="1"/>
          <p:nvPr>
            <p:ph idx="13" type="body"/>
          </p:nvPr>
        </p:nvSpPr>
        <p:spPr>
          <a:xfrm>
            <a:off x="4996482" y="3174712"/>
            <a:ext cx="1283679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486" name="Google Shape;486;p47"/>
          <p:cNvSpPr txBox="1"/>
          <p:nvPr>
            <p:ph idx="14" type="body"/>
          </p:nvPr>
        </p:nvSpPr>
        <p:spPr>
          <a:xfrm>
            <a:off x="7074834" y="2840466"/>
            <a:ext cx="12834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487" name="Google Shape;487;p47"/>
          <p:cNvSpPr txBox="1"/>
          <p:nvPr>
            <p:ph idx="15" type="body"/>
          </p:nvPr>
        </p:nvSpPr>
        <p:spPr>
          <a:xfrm>
            <a:off x="7074259" y="3179109"/>
            <a:ext cx="1283679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488" name="Google Shape;488;p47"/>
          <p:cNvSpPr txBox="1"/>
          <p:nvPr>
            <p:ph idx="10" type="dt"/>
          </p:nvPr>
        </p:nvSpPr>
        <p:spPr>
          <a:xfrm>
            <a:off x="413147" y="4880409"/>
            <a:ext cx="1971675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March 25</a:t>
            </a:r>
            <a:endParaRPr/>
          </a:p>
        </p:txBody>
      </p:sp>
      <p:sp>
        <p:nvSpPr>
          <p:cNvPr id="489" name="Google Shape;489;p47"/>
          <p:cNvSpPr txBox="1"/>
          <p:nvPr>
            <p:ph idx="12" type="sldNum"/>
          </p:nvPr>
        </p:nvSpPr>
        <p:spPr>
          <a:xfrm>
            <a:off x="7461647" y="4880409"/>
            <a:ext cx="1269206" cy="115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DFloatVTI">
  <a:themeElements>
    <a:clrScheme name="Float">
      <a:dk1>
        <a:srgbClr val="000000"/>
      </a:dk1>
      <a:lt1>
        <a:srgbClr val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